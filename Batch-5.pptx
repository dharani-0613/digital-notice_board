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7" r:id="rId2"/>
    <p:sldId id="260" r:id="rId3"/>
    <p:sldId id="294" r:id="rId4"/>
    <p:sldId id="303" r:id="rId5"/>
    <p:sldId id="304" r:id="rId6"/>
    <p:sldId id="305" r:id="rId7"/>
    <p:sldId id="307" r:id="rId8"/>
    <p:sldId id="306" r:id="rId9"/>
    <p:sldId id="263" r:id="rId10"/>
    <p:sldId id="264" r:id="rId11"/>
    <p:sldId id="308" r:id="rId12"/>
    <p:sldId id="309" r:id="rId13"/>
    <p:sldId id="267" r:id="rId14"/>
    <p:sldId id="270" r:id="rId15"/>
    <p:sldId id="302" r:id="rId16"/>
    <p:sldId id="301" r:id="rId17"/>
    <p:sldId id="298" r:id="rId18"/>
    <p:sldId id="272" r:id="rId19"/>
    <p:sldId id="273" r:id="rId20"/>
    <p:sldId id="297" r:id="rId21"/>
    <p:sldId id="299" r:id="rId22"/>
    <p:sldId id="276" r:id="rId23"/>
    <p:sldId id="277" r:id="rId24"/>
    <p:sldId id="283" r:id="rId25"/>
    <p:sldId id="284" r:id="rId26"/>
    <p:sldId id="285" r:id="rId27"/>
    <p:sldId id="293" r:id="rId28"/>
    <p:sldId id="278" r:id="rId29"/>
    <p:sldId id="296" r:id="rId30"/>
    <p:sldId id="295" r:id="rId31"/>
    <p:sldId id="279"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59" d="100"/>
          <a:sy n="59" d="100"/>
        </p:scale>
        <p:origin x="1520" y="5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harani ghanapuram" userId="d2827551fdfa8d0c" providerId="LiveId" clId="{124AF982-1AC0-4C29-82D1-EC4CD02595BA}"/>
    <pc:docChg chg="undo custSel modSld">
      <pc:chgData name="dharani ghanapuram" userId="d2827551fdfa8d0c" providerId="LiveId" clId="{124AF982-1AC0-4C29-82D1-EC4CD02595BA}" dt="2026-04-14T09:34:54.519" v="80" actId="1076"/>
      <pc:docMkLst>
        <pc:docMk/>
      </pc:docMkLst>
      <pc:sldChg chg="modSp mod">
        <pc:chgData name="dharani ghanapuram" userId="d2827551fdfa8d0c" providerId="LiveId" clId="{124AF982-1AC0-4C29-82D1-EC4CD02595BA}" dt="2026-04-14T09:33:01.157" v="30" actId="20577"/>
        <pc:sldMkLst>
          <pc:docMk/>
          <pc:sldMk cId="0" sldId="276"/>
        </pc:sldMkLst>
        <pc:spChg chg="mod">
          <ac:chgData name="dharani ghanapuram" userId="d2827551fdfa8d0c" providerId="LiveId" clId="{124AF982-1AC0-4C29-82D1-EC4CD02595BA}" dt="2026-04-14T09:33:01.157" v="30" actId="20577"/>
          <ac:spMkLst>
            <pc:docMk/>
            <pc:sldMk cId="0" sldId="276"/>
            <ac:spMk id="1048734" creationId="{00000000-0000-0000-0000-000000000000}"/>
          </ac:spMkLst>
        </pc:spChg>
      </pc:sldChg>
      <pc:sldChg chg="modSp mod">
        <pc:chgData name="dharani ghanapuram" userId="d2827551fdfa8d0c" providerId="LiveId" clId="{124AF982-1AC0-4C29-82D1-EC4CD02595BA}" dt="2026-04-14T09:34:54.519" v="80" actId="1076"/>
        <pc:sldMkLst>
          <pc:docMk/>
          <pc:sldMk cId="1284043730" sldId="307"/>
        </pc:sldMkLst>
        <pc:spChg chg="mod">
          <ac:chgData name="dharani ghanapuram" userId="d2827551fdfa8d0c" providerId="LiveId" clId="{124AF982-1AC0-4C29-82D1-EC4CD02595BA}" dt="2026-04-14T09:34:54.519" v="80" actId="1076"/>
          <ac:spMkLst>
            <pc:docMk/>
            <pc:sldMk cId="1284043730" sldId="307"/>
            <ac:spMk id="1048621" creationId="{9BD7900B-0FC6-CA28-178F-C270AB903B5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01"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1048802"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691E5-CCE0-453C-83FE-0BF7F833CE50}" type="datetimeFigureOut">
              <a:rPr lang="en-IN" smtClean="0"/>
              <a:t>14-04-2026</a:t>
            </a:fld>
            <a:endParaRPr lang="en-IN" dirty="0"/>
          </a:p>
        </p:txBody>
      </p:sp>
      <p:sp>
        <p:nvSpPr>
          <p:cNvPr id="1048803"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1048804"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805"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1048806"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7EDF47-811F-4D2F-92F9-7AF2A9572829}" type="slidenum">
              <a:rPr lang="en-IN" smtClean="0"/>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7"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58"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759" name="Date Placeholder 3"/>
          <p:cNvSpPr>
            <a:spLocks noGrp="1"/>
          </p:cNvSpPr>
          <p:nvPr>
            <p:ph type="dt" sz="half" idx="10"/>
          </p:nvPr>
        </p:nvSpPr>
        <p:spPr/>
        <p:txBody>
          <a:bodyPr/>
          <a:lstStyle/>
          <a:p>
            <a:fld id="{E4A39EB3-9746-4C09-B835-06BE6863E825}" type="datetime1">
              <a:rPr lang="en-US" smtClean="0"/>
              <a:t>4/14/2026</a:t>
            </a:fld>
            <a:endParaRPr lang="en-US" dirty="0"/>
          </a:p>
        </p:txBody>
      </p:sp>
      <p:sp>
        <p:nvSpPr>
          <p:cNvPr id="1048760" name="Footer Placeholder 4"/>
          <p:cNvSpPr>
            <a:spLocks noGrp="1"/>
          </p:cNvSpPr>
          <p:nvPr>
            <p:ph type="ftr" sz="quarter" idx="11"/>
          </p:nvPr>
        </p:nvSpPr>
        <p:spPr/>
        <p:txBody>
          <a:bodyPr/>
          <a:lstStyle/>
          <a:p>
            <a:endParaRPr lang="en-US" dirty="0"/>
          </a:p>
        </p:txBody>
      </p:sp>
      <p:sp>
        <p:nvSpPr>
          <p:cNvPr id="1048761"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2" name="Title 1"/>
          <p:cNvSpPr>
            <a:spLocks noGrp="1"/>
          </p:cNvSpPr>
          <p:nvPr>
            <p:ph type="title"/>
          </p:nvPr>
        </p:nvSpPr>
        <p:spPr/>
        <p:txBody>
          <a:bodyPr/>
          <a:lstStyle/>
          <a:p>
            <a:r>
              <a:rPr lang="en-US"/>
              <a:t>Click to edit Master title style</a:t>
            </a:r>
          </a:p>
        </p:txBody>
      </p:sp>
      <p:sp>
        <p:nvSpPr>
          <p:cNvPr id="104859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4" name="Date Placeholder 3"/>
          <p:cNvSpPr>
            <a:spLocks noGrp="1"/>
          </p:cNvSpPr>
          <p:nvPr>
            <p:ph type="dt" sz="half" idx="10"/>
          </p:nvPr>
        </p:nvSpPr>
        <p:spPr/>
        <p:txBody>
          <a:bodyPr/>
          <a:lstStyle/>
          <a:p>
            <a:fld id="{1FDAA625-F2A6-44F8-9CE9-BA407BE86122}" type="datetime1">
              <a:rPr lang="en-US" smtClean="0"/>
              <a:t>4/14/2026</a:t>
            </a:fld>
            <a:endParaRPr lang="en-US" dirty="0"/>
          </a:p>
        </p:txBody>
      </p:sp>
      <p:sp>
        <p:nvSpPr>
          <p:cNvPr id="1048595" name="Footer Placeholder 4"/>
          <p:cNvSpPr>
            <a:spLocks noGrp="1"/>
          </p:cNvSpPr>
          <p:nvPr>
            <p:ph type="ftr" sz="quarter" idx="11"/>
          </p:nvPr>
        </p:nvSpPr>
        <p:spPr/>
        <p:txBody>
          <a:bodyPr/>
          <a:lstStyle/>
          <a:p>
            <a:endParaRPr lang="en-US" dirty="0"/>
          </a:p>
        </p:txBody>
      </p:sp>
      <p:sp>
        <p:nvSpPr>
          <p:cNvPr id="104859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8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4" name="Date Placeholder 3"/>
          <p:cNvSpPr>
            <a:spLocks noGrp="1"/>
          </p:cNvSpPr>
          <p:nvPr>
            <p:ph type="dt" sz="half" idx="10"/>
          </p:nvPr>
        </p:nvSpPr>
        <p:spPr/>
        <p:txBody>
          <a:bodyPr/>
          <a:lstStyle/>
          <a:p>
            <a:fld id="{7F970D22-80E5-4793-89EA-2973CDD78E7A}" type="datetime1">
              <a:rPr lang="en-US" smtClean="0"/>
              <a:t>4/14/2026</a:t>
            </a:fld>
            <a:endParaRPr lang="en-US" dirty="0"/>
          </a:p>
        </p:txBody>
      </p:sp>
      <p:sp>
        <p:nvSpPr>
          <p:cNvPr id="1048785" name="Footer Placeholder 4"/>
          <p:cNvSpPr>
            <a:spLocks noGrp="1"/>
          </p:cNvSpPr>
          <p:nvPr>
            <p:ph type="ftr" sz="quarter" idx="11"/>
          </p:nvPr>
        </p:nvSpPr>
        <p:spPr/>
        <p:txBody>
          <a:bodyPr/>
          <a:lstStyle/>
          <a:p>
            <a:endParaRPr lang="en-US" dirty="0"/>
          </a:p>
        </p:txBody>
      </p:sp>
      <p:sp>
        <p:nvSpPr>
          <p:cNvPr id="104878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4" name="Date Placeholder 4"/>
          <p:cNvSpPr>
            <a:spLocks noGrp="1"/>
          </p:cNvSpPr>
          <p:nvPr>
            <p:ph type="dt" sz="half" idx="10"/>
          </p:nvPr>
        </p:nvSpPr>
        <p:spPr/>
        <p:txBody>
          <a:bodyPr/>
          <a:lstStyle/>
          <a:p>
            <a:fld id="{2F5C0BEB-74E4-4130-B16A-59F6B6DB62EB}" type="datetime1">
              <a:rPr lang="en-US" smtClean="0"/>
              <a:t>4/14/2026</a:t>
            </a:fld>
            <a:endParaRPr lang="en-US" dirty="0"/>
          </a:p>
        </p:txBody>
      </p:sp>
      <p:sp>
        <p:nvSpPr>
          <p:cNvPr id="1048585" name="Footer Placeholder 5"/>
          <p:cNvSpPr>
            <a:spLocks noGrp="1"/>
          </p:cNvSpPr>
          <p:nvPr>
            <p:ph type="ftr" sz="quarter" idx="11"/>
          </p:nvPr>
        </p:nvSpPr>
        <p:spPr/>
        <p:txBody>
          <a:bodyPr/>
          <a:lstStyle/>
          <a:p>
            <a:endParaRPr lang="en-US" dirty="0"/>
          </a:p>
        </p:txBody>
      </p:sp>
      <p:sp>
        <p:nvSpPr>
          <p:cNvPr id="1048586"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87" name="Title 1"/>
          <p:cNvSpPr>
            <a:spLocks noGrp="1"/>
          </p:cNvSpPr>
          <p:nvPr>
            <p:ph type="title"/>
          </p:nvPr>
        </p:nvSpPr>
        <p:spPr/>
        <p:txBody>
          <a:bodyPr/>
          <a:lstStyle/>
          <a:p>
            <a:r>
              <a:rPr lang="en-US"/>
              <a:t>Click to edit Master title style</a:t>
            </a:r>
          </a:p>
        </p:txBody>
      </p:sp>
      <p:sp>
        <p:nvSpPr>
          <p:cNvPr id="1048788"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8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0"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9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2" name="Date Placeholder 6"/>
          <p:cNvSpPr>
            <a:spLocks noGrp="1"/>
          </p:cNvSpPr>
          <p:nvPr>
            <p:ph type="dt" sz="half" idx="10"/>
          </p:nvPr>
        </p:nvSpPr>
        <p:spPr/>
        <p:txBody>
          <a:bodyPr/>
          <a:lstStyle/>
          <a:p>
            <a:fld id="{5E04AD13-0A80-45C7-9DF6-46A08EE815A2}" type="datetime1">
              <a:rPr lang="en-US" smtClean="0"/>
              <a:t>4/14/2026</a:t>
            </a:fld>
            <a:endParaRPr lang="en-US" dirty="0"/>
          </a:p>
        </p:txBody>
      </p:sp>
      <p:sp>
        <p:nvSpPr>
          <p:cNvPr id="1048793" name="Footer Placeholder 7"/>
          <p:cNvSpPr>
            <a:spLocks noGrp="1"/>
          </p:cNvSpPr>
          <p:nvPr>
            <p:ph type="ftr" sz="quarter" idx="11"/>
          </p:nvPr>
        </p:nvSpPr>
        <p:spPr/>
        <p:txBody>
          <a:bodyPr/>
          <a:lstStyle/>
          <a:p>
            <a:endParaRPr lang="en-US" dirty="0"/>
          </a:p>
        </p:txBody>
      </p:sp>
      <p:sp>
        <p:nvSpPr>
          <p:cNvPr id="1048794"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62" name="Title 1"/>
          <p:cNvSpPr>
            <a:spLocks noGrp="1"/>
          </p:cNvSpPr>
          <p:nvPr>
            <p:ph type="title"/>
          </p:nvPr>
        </p:nvSpPr>
        <p:spPr/>
        <p:txBody>
          <a:bodyPr/>
          <a:lstStyle/>
          <a:p>
            <a:r>
              <a:rPr lang="en-US"/>
              <a:t>Click to edit Master title style</a:t>
            </a:r>
          </a:p>
        </p:txBody>
      </p:sp>
      <p:sp>
        <p:nvSpPr>
          <p:cNvPr id="1048763" name="Date Placeholder 2"/>
          <p:cNvSpPr>
            <a:spLocks noGrp="1"/>
          </p:cNvSpPr>
          <p:nvPr>
            <p:ph type="dt" sz="half" idx="10"/>
          </p:nvPr>
        </p:nvSpPr>
        <p:spPr/>
        <p:txBody>
          <a:bodyPr/>
          <a:lstStyle/>
          <a:p>
            <a:fld id="{D5DB20B6-55BA-4621-8459-C5607B410D93}" type="datetime1">
              <a:rPr lang="en-US" smtClean="0"/>
              <a:t>4/14/2026</a:t>
            </a:fld>
            <a:endParaRPr lang="en-US" dirty="0"/>
          </a:p>
        </p:txBody>
      </p:sp>
      <p:sp>
        <p:nvSpPr>
          <p:cNvPr id="1048764" name="Footer Placeholder 3"/>
          <p:cNvSpPr>
            <a:spLocks noGrp="1"/>
          </p:cNvSpPr>
          <p:nvPr>
            <p:ph type="ftr" sz="quarter" idx="11"/>
          </p:nvPr>
        </p:nvSpPr>
        <p:spPr/>
        <p:txBody>
          <a:bodyPr/>
          <a:lstStyle/>
          <a:p>
            <a:endParaRPr lang="en-US" dirty="0"/>
          </a:p>
        </p:txBody>
      </p:sp>
      <p:sp>
        <p:nvSpPr>
          <p:cNvPr id="104876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38" name="Date Placeholder 1"/>
          <p:cNvSpPr>
            <a:spLocks noGrp="1"/>
          </p:cNvSpPr>
          <p:nvPr>
            <p:ph type="dt" sz="half" idx="10"/>
          </p:nvPr>
        </p:nvSpPr>
        <p:spPr/>
        <p:txBody>
          <a:bodyPr/>
          <a:lstStyle/>
          <a:p>
            <a:fld id="{CCBE5700-9D30-4E46-A2C9-E30B27F2CA8B}" type="datetime1">
              <a:rPr lang="en-US" smtClean="0"/>
              <a:t>4/14/2026</a:t>
            </a:fld>
            <a:endParaRPr lang="en-US" dirty="0"/>
          </a:p>
        </p:txBody>
      </p:sp>
      <p:sp>
        <p:nvSpPr>
          <p:cNvPr id="1048639" name="Footer Placeholder 2"/>
          <p:cNvSpPr>
            <a:spLocks noGrp="1"/>
          </p:cNvSpPr>
          <p:nvPr>
            <p:ph type="ftr" sz="quarter" idx="11"/>
          </p:nvPr>
        </p:nvSpPr>
        <p:spPr/>
        <p:txBody>
          <a:bodyPr/>
          <a:lstStyle/>
          <a:p>
            <a:endParaRPr lang="en-US" dirty="0"/>
          </a:p>
        </p:txBody>
      </p:sp>
      <p:sp>
        <p:nvSpPr>
          <p:cNvPr id="1048640"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95"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96"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7"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98" name="Date Placeholder 4"/>
          <p:cNvSpPr>
            <a:spLocks noGrp="1"/>
          </p:cNvSpPr>
          <p:nvPr>
            <p:ph type="dt" sz="half" idx="10"/>
          </p:nvPr>
        </p:nvSpPr>
        <p:spPr/>
        <p:txBody>
          <a:bodyPr/>
          <a:lstStyle/>
          <a:p>
            <a:fld id="{8B9EA9B8-D7E2-480D-BB32-0229515C62F4}" type="datetime1">
              <a:rPr lang="en-US" smtClean="0"/>
              <a:t>4/14/2026</a:t>
            </a:fld>
            <a:endParaRPr lang="en-US" dirty="0"/>
          </a:p>
        </p:txBody>
      </p:sp>
      <p:sp>
        <p:nvSpPr>
          <p:cNvPr id="1048799" name="Footer Placeholder 5"/>
          <p:cNvSpPr>
            <a:spLocks noGrp="1"/>
          </p:cNvSpPr>
          <p:nvPr>
            <p:ph type="ftr" sz="quarter" idx="11"/>
          </p:nvPr>
        </p:nvSpPr>
        <p:spPr/>
        <p:txBody>
          <a:bodyPr/>
          <a:lstStyle/>
          <a:p>
            <a:endParaRPr lang="en-US" dirty="0"/>
          </a:p>
        </p:txBody>
      </p:sp>
      <p:sp>
        <p:nvSpPr>
          <p:cNvPr id="1048800"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71"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72"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48773"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74" name="Date Placeholder 4"/>
          <p:cNvSpPr>
            <a:spLocks noGrp="1"/>
          </p:cNvSpPr>
          <p:nvPr>
            <p:ph type="dt" sz="half" idx="10"/>
          </p:nvPr>
        </p:nvSpPr>
        <p:spPr/>
        <p:txBody>
          <a:bodyPr/>
          <a:lstStyle/>
          <a:p>
            <a:fld id="{72D5BC3D-21C4-4AF3-B40F-6CA3DE42903E}" type="datetime1">
              <a:rPr lang="en-US" smtClean="0"/>
              <a:t>4/14/2026</a:t>
            </a:fld>
            <a:endParaRPr lang="en-US" dirty="0"/>
          </a:p>
        </p:txBody>
      </p:sp>
      <p:sp>
        <p:nvSpPr>
          <p:cNvPr id="1048775" name="Footer Placeholder 5"/>
          <p:cNvSpPr>
            <a:spLocks noGrp="1"/>
          </p:cNvSpPr>
          <p:nvPr>
            <p:ph type="ftr" sz="quarter" idx="11"/>
          </p:nvPr>
        </p:nvSpPr>
        <p:spPr/>
        <p:txBody>
          <a:bodyPr/>
          <a:lstStyle/>
          <a:p>
            <a:endParaRPr lang="en-US" dirty="0"/>
          </a:p>
        </p:txBody>
      </p:sp>
      <p:sp>
        <p:nvSpPr>
          <p:cNvPr id="1048776"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77" name="Title 1"/>
          <p:cNvSpPr>
            <a:spLocks noGrp="1"/>
          </p:cNvSpPr>
          <p:nvPr>
            <p:ph type="title"/>
          </p:nvPr>
        </p:nvSpPr>
        <p:spPr/>
        <p:txBody>
          <a:bodyPr/>
          <a:lstStyle/>
          <a:p>
            <a:r>
              <a:rPr lang="en-US"/>
              <a:t>Click to edit Master title style</a:t>
            </a:r>
          </a:p>
        </p:txBody>
      </p:sp>
      <p:sp>
        <p:nvSpPr>
          <p:cNvPr id="104877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9" name="Date Placeholder 3"/>
          <p:cNvSpPr>
            <a:spLocks noGrp="1"/>
          </p:cNvSpPr>
          <p:nvPr>
            <p:ph type="dt" sz="half" idx="10"/>
          </p:nvPr>
        </p:nvSpPr>
        <p:spPr/>
        <p:txBody>
          <a:bodyPr/>
          <a:lstStyle/>
          <a:p>
            <a:fld id="{174A18AC-E893-4E85-A0F4-ECD4E400603C}" type="datetime1">
              <a:rPr lang="en-US" smtClean="0"/>
              <a:t>4/14/2026</a:t>
            </a:fld>
            <a:endParaRPr lang="en-US" dirty="0"/>
          </a:p>
        </p:txBody>
      </p:sp>
      <p:sp>
        <p:nvSpPr>
          <p:cNvPr id="1048780" name="Footer Placeholder 4"/>
          <p:cNvSpPr>
            <a:spLocks noGrp="1"/>
          </p:cNvSpPr>
          <p:nvPr>
            <p:ph type="ftr" sz="quarter" idx="11"/>
          </p:nvPr>
        </p:nvSpPr>
        <p:spPr/>
        <p:txBody>
          <a:bodyPr/>
          <a:lstStyle/>
          <a:p>
            <a:endParaRPr lang="en-US" dirty="0"/>
          </a:p>
        </p:txBody>
      </p:sp>
      <p:sp>
        <p:nvSpPr>
          <p:cNvPr id="1048781"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66"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67"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8" name="Date Placeholder 3"/>
          <p:cNvSpPr>
            <a:spLocks noGrp="1"/>
          </p:cNvSpPr>
          <p:nvPr>
            <p:ph type="dt" sz="half" idx="10"/>
          </p:nvPr>
        </p:nvSpPr>
        <p:spPr/>
        <p:txBody>
          <a:bodyPr/>
          <a:lstStyle/>
          <a:p>
            <a:fld id="{02C8074A-2E48-4B0B-A22C-FDBF4BAA9181}" type="datetime1">
              <a:rPr lang="en-US" smtClean="0"/>
              <a:t>4/14/2026</a:t>
            </a:fld>
            <a:endParaRPr lang="en-US" dirty="0"/>
          </a:p>
        </p:txBody>
      </p:sp>
      <p:sp>
        <p:nvSpPr>
          <p:cNvPr id="1048769" name="Footer Placeholder 4"/>
          <p:cNvSpPr>
            <a:spLocks noGrp="1"/>
          </p:cNvSpPr>
          <p:nvPr>
            <p:ph type="ftr" sz="quarter" idx="11"/>
          </p:nvPr>
        </p:nvSpPr>
        <p:spPr/>
        <p:txBody>
          <a:bodyPr/>
          <a:lstStyle/>
          <a:p>
            <a:endParaRPr lang="en-US" dirty="0"/>
          </a:p>
        </p:txBody>
      </p:sp>
      <p:sp>
        <p:nvSpPr>
          <p:cNvPr id="1048770"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47DA2-F685-4939-A265-E94B76F180C6}" type="datetime1">
              <a:rPr lang="en-US" smtClean="0"/>
              <a:t>4/14/2026</a:t>
            </a:fld>
            <a:endParaRPr lang="en-US" dirty="0"/>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researchinventy.com/papers/v14i3/J14036269.pdf" TargetMode="External"/><Relationship Id="rId7" Type="http://schemas.openxmlformats.org/officeDocument/2006/relationships/hyperlink" Target="https://www.arduino.cc/en/software" TargetMode="External"/><Relationship Id="rId2" Type="http://schemas.openxmlformats.org/officeDocument/2006/relationships/hyperlink" Target="https://www.researchgate.net/publication/342483394_IOT_based_Smart_Notice_Board" TargetMode="External"/><Relationship Id="rId1" Type="http://schemas.openxmlformats.org/officeDocument/2006/relationships/slideLayout" Target="../slideLayouts/slideLayout2.xml"/><Relationship Id="rId6" Type="http://schemas.openxmlformats.org/officeDocument/2006/relationships/hyperlink" Target="https://www.espressif.com/en/products/socs/esp8266" TargetMode="External"/><Relationship Id="rId5" Type="http://schemas.openxmlformats.org/officeDocument/2006/relationships/hyperlink" Target="https://firebase.google.com/docs" TargetMode="External"/><Relationship Id="rId4" Type="http://schemas.openxmlformats.org/officeDocument/2006/relationships/hyperlink" Target="https://how2electronics.com/iot-web-controlled-notice-board-esp8266/"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25000">
              <a:schemeClr val="tx2">
                <a:lumMod val="75000"/>
              </a:schemeClr>
            </a:gs>
            <a:gs pos="89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1048589" name="Content Placeholder 2"/>
          <p:cNvSpPr>
            <a:spLocks noGrp="1"/>
          </p:cNvSpPr>
          <p:nvPr>
            <p:ph sz="half" idx="1"/>
          </p:nvPr>
        </p:nvSpPr>
        <p:spPr>
          <a:xfrm>
            <a:off x="5585552" y="4460129"/>
            <a:ext cx="3265307" cy="2261346"/>
          </a:xfrm>
        </p:spPr>
        <p:txBody>
          <a:bodyPr vert="horz" lIns="91440" tIns="45720" rIns="91440" bIns="45720" rtlCol="0" anchor="t">
            <a:normAutofit/>
          </a:bodyPr>
          <a:lstStyle/>
          <a:p>
            <a:pPr marL="0" indent="0" algn="just">
              <a:spcBef>
                <a:spcPts val="0"/>
              </a:spcBef>
              <a:buNone/>
            </a:pPr>
            <a:r>
              <a:rPr lang="en-IN" sz="1800" b="1" dirty="0">
                <a:latin typeface="Times New Roman"/>
                <a:ea typeface="Calibri"/>
                <a:cs typeface="Times New Roman"/>
              </a:rPr>
              <a:t>PRESENTED BY </a:t>
            </a:r>
            <a:endParaRPr lang="en-US" sz="1800" dirty="0">
              <a:latin typeface="Times New Roman"/>
              <a:ea typeface="Calibri"/>
              <a:cs typeface="Times New Roman"/>
            </a:endParaRPr>
          </a:p>
          <a:p>
            <a:pPr marL="0" indent="0" algn="just">
              <a:spcBef>
                <a:spcPts val="0"/>
              </a:spcBef>
              <a:buNone/>
            </a:pPr>
            <a:r>
              <a:rPr lang="en-IN" sz="1800" b="1" dirty="0">
                <a:latin typeface="Times New Roman"/>
                <a:ea typeface="Calibri"/>
                <a:cs typeface="Times New Roman"/>
              </a:rPr>
              <a:t>CSE 3-2 BATCH </a:t>
            </a:r>
            <a:r>
              <a:rPr lang="en-US" sz="1800" b="1" dirty="0">
                <a:latin typeface="Times New Roman"/>
                <a:ea typeface="Calibri"/>
                <a:cs typeface="Times New Roman"/>
              </a:rPr>
              <a:t>5</a:t>
            </a:r>
            <a:endParaRPr lang="en-GB" sz="1800" b="1" dirty="0">
              <a:latin typeface="Times New Roman"/>
              <a:ea typeface="Calibri"/>
              <a:cs typeface="Times New Roman"/>
            </a:endParaRPr>
          </a:p>
          <a:p>
            <a:pPr marL="0" indent="0" algn="just">
              <a:spcBef>
                <a:spcPts val="0"/>
              </a:spcBef>
              <a:buNone/>
            </a:pPr>
            <a:r>
              <a:rPr lang="en-GB" sz="1800" dirty="0">
                <a:latin typeface="Times New Roman"/>
                <a:ea typeface="Calibri"/>
                <a:cs typeface="Times New Roman"/>
              </a:rPr>
              <a:t>G. Anjali -23SS1A0518</a:t>
            </a:r>
          </a:p>
          <a:p>
            <a:pPr marL="0" indent="0" algn="just">
              <a:spcBef>
                <a:spcPts val="0"/>
              </a:spcBef>
              <a:buNone/>
            </a:pPr>
            <a:r>
              <a:rPr lang="en-IN" sz="1800" dirty="0">
                <a:latin typeface="Times New Roman"/>
                <a:ea typeface="Calibri"/>
                <a:cs typeface="Times New Roman"/>
              </a:rPr>
              <a:t>G. Dharani – </a:t>
            </a:r>
            <a:r>
              <a:rPr lang="en-US" sz="1800" dirty="0">
                <a:latin typeface="Times New Roman"/>
                <a:ea typeface="Calibri"/>
                <a:cs typeface="Times New Roman"/>
              </a:rPr>
              <a:t>23SS1A0520</a:t>
            </a:r>
          </a:p>
          <a:p>
            <a:pPr marL="0" indent="0" algn="just">
              <a:spcBef>
                <a:spcPts val="0"/>
              </a:spcBef>
              <a:buNone/>
            </a:pPr>
            <a:r>
              <a:rPr lang="en-IN" sz="1800" dirty="0">
                <a:latin typeface="Times New Roman"/>
                <a:ea typeface="Calibri"/>
                <a:cs typeface="Times New Roman"/>
              </a:rPr>
              <a:t>K. Poojitha - 23SS1A0531</a:t>
            </a:r>
            <a:endParaRPr lang="en-US" sz="1800" dirty="0">
              <a:latin typeface="Times New Roman"/>
              <a:ea typeface="Calibri"/>
              <a:cs typeface="Times New Roman"/>
            </a:endParaRPr>
          </a:p>
          <a:p>
            <a:pPr marL="0" indent="0" algn="just">
              <a:spcBef>
                <a:spcPts val="0"/>
              </a:spcBef>
              <a:buNone/>
            </a:pPr>
            <a:r>
              <a:rPr lang="en-IN" sz="1800" dirty="0">
                <a:latin typeface="Times New Roman"/>
                <a:ea typeface="Calibri"/>
                <a:cs typeface="Times New Roman"/>
              </a:rPr>
              <a:t>P. Komali Kavya - 23SS1A0548</a:t>
            </a:r>
            <a:endParaRPr lang="en-US" sz="1800" dirty="0">
              <a:latin typeface="Times New Roman"/>
              <a:ea typeface="Calibri"/>
              <a:cs typeface="Times New Roman"/>
            </a:endParaRPr>
          </a:p>
          <a:p>
            <a:pPr marL="0" indent="0" algn="just">
              <a:spcBef>
                <a:spcPts val="0"/>
              </a:spcBef>
              <a:buNone/>
            </a:pPr>
            <a:endParaRPr lang="en-IN" sz="1600" dirty="0">
              <a:latin typeface="Times New Roman"/>
              <a:ea typeface="Calibri"/>
              <a:cs typeface="Times New Roman"/>
            </a:endParaRPr>
          </a:p>
          <a:p>
            <a:pPr marL="0" indent="0" algn="just">
              <a:buNone/>
            </a:pPr>
            <a:endParaRPr lang="en-US" sz="1600" dirty="0">
              <a:latin typeface="Times New Roman"/>
              <a:ea typeface="Calibri"/>
              <a:cs typeface="Times New Roman"/>
            </a:endParaRPr>
          </a:p>
        </p:txBody>
      </p:sp>
      <p:sp>
        <p:nvSpPr>
          <p:cNvPr id="1048590" name="Content Placeholder 3"/>
          <p:cNvSpPr>
            <a:spLocks noGrp="1"/>
          </p:cNvSpPr>
          <p:nvPr>
            <p:ph sz="half" idx="2"/>
          </p:nvPr>
        </p:nvSpPr>
        <p:spPr>
          <a:xfrm>
            <a:off x="666116" y="4460129"/>
            <a:ext cx="2407057" cy="2145960"/>
          </a:xfrm>
        </p:spPr>
        <p:txBody>
          <a:bodyPr vert="horz" lIns="91440" tIns="45720" rIns="91440" bIns="45720" rtlCol="0" anchor="t">
            <a:normAutofit/>
          </a:bodyPr>
          <a:lstStyle/>
          <a:p>
            <a:pPr marL="0" indent="0">
              <a:buNone/>
            </a:pPr>
            <a:r>
              <a:rPr lang="en-US" sz="1800" b="1" dirty="0">
                <a:latin typeface="Times New Roman"/>
                <a:ea typeface="Calibri"/>
                <a:cs typeface="Times New Roman"/>
              </a:rPr>
              <a:t>GUIDED BY</a:t>
            </a:r>
          </a:p>
          <a:p>
            <a:pPr marL="0" indent="0">
              <a:buNone/>
            </a:pPr>
            <a:r>
              <a:rPr lang="en-US" sz="1800" b="1" dirty="0">
                <a:latin typeface="Times New Roman"/>
                <a:ea typeface="Calibri"/>
                <a:cs typeface="Times New Roman"/>
              </a:rPr>
              <a:t>Mrs.K.Neeraja</a:t>
            </a:r>
          </a:p>
          <a:p>
            <a:pPr marL="0" indent="0">
              <a:buNone/>
            </a:pPr>
            <a:r>
              <a:rPr lang="en-US" sz="1800" dirty="0">
                <a:latin typeface="Times New Roman"/>
                <a:ea typeface="Calibri"/>
                <a:cs typeface="Times New Roman"/>
              </a:rPr>
              <a:t>Assistant Professor</a:t>
            </a:r>
          </a:p>
          <a:p>
            <a:pPr marL="0" indent="0">
              <a:buNone/>
            </a:pPr>
            <a:r>
              <a:rPr lang="en-US" sz="1800" dirty="0">
                <a:latin typeface="Times New Roman"/>
                <a:ea typeface="Calibri"/>
                <a:cs typeface="Times New Roman"/>
              </a:rPr>
              <a:t>CSE Department</a:t>
            </a:r>
          </a:p>
          <a:p>
            <a:endParaRPr lang="en-IN" sz="1600" dirty="0">
              <a:latin typeface="Times New Roman"/>
              <a:ea typeface="Calibri"/>
              <a:cs typeface="Times New Roman"/>
            </a:endParaRPr>
          </a:p>
          <a:p>
            <a:endParaRPr lang="en-US" sz="1600" dirty="0">
              <a:latin typeface="Times New Roman"/>
              <a:ea typeface="Calibri"/>
              <a:cs typeface="Times New Roman"/>
            </a:endParaRPr>
          </a:p>
        </p:txBody>
      </p:sp>
      <p:sp>
        <p:nvSpPr>
          <p:cNvPr id="1048591" name="Slide Number Placeholder 4"/>
          <p:cNvSpPr>
            <a:spLocks noGrp="1"/>
          </p:cNvSpPr>
          <p:nvPr>
            <p:ph type="sldNum" sz="quarter" idx="12"/>
          </p:nvPr>
        </p:nvSpPr>
        <p:spPr>
          <a:xfrm>
            <a:off x="6901774" y="6356350"/>
            <a:ext cx="1613576" cy="365125"/>
          </a:xfrm>
        </p:spPr>
        <p:txBody>
          <a:bodyPr>
            <a:normAutofit/>
          </a:bodyPr>
          <a:lstStyle/>
          <a:p>
            <a:pPr>
              <a:spcAft>
                <a:spcPts val="600"/>
              </a:spcAft>
            </a:pPr>
            <a:fld id="{C1FF6DA9-008F-8B48-92A6-B652298478BF}" type="slidenum">
              <a:rPr lang="en-US" sz="1600" smtClean="0">
                <a:latin typeface="Times New Roman"/>
                <a:cs typeface="Times New Roman"/>
              </a:rPr>
              <a:pPr>
                <a:spcAft>
                  <a:spcPts val="600"/>
                </a:spcAft>
              </a:pPr>
              <a:t>1</a:t>
            </a:fld>
            <a:endParaRPr lang="en-US" sz="1600" dirty="0">
              <a:latin typeface="Times New Roman"/>
              <a:cs typeface="Times New Roman"/>
            </a:endParaRPr>
          </a:p>
        </p:txBody>
      </p:sp>
      <p:sp>
        <p:nvSpPr>
          <p:cNvPr id="11" name="Title 10">
            <a:extLst>
              <a:ext uri="{FF2B5EF4-FFF2-40B4-BE49-F238E27FC236}">
                <a16:creationId xmlns:a16="http://schemas.microsoft.com/office/drawing/2014/main" id="{1A8F2271-52B4-97F9-5F7B-A4477D53EC01}"/>
              </a:ext>
            </a:extLst>
          </p:cNvPr>
          <p:cNvSpPr>
            <a:spLocks noGrp="1"/>
          </p:cNvSpPr>
          <p:nvPr>
            <p:ph type="title"/>
          </p:nvPr>
        </p:nvSpPr>
        <p:spPr>
          <a:xfrm>
            <a:off x="1588770" y="274638"/>
            <a:ext cx="6355080" cy="3931602"/>
          </a:xfrm>
        </p:spPr>
        <p:txBody>
          <a:bodyPr>
            <a:normAutofit/>
          </a:bodyPr>
          <a:lstStyle/>
          <a:p>
            <a:r>
              <a:rPr lang="en-IN" sz="5400" b="1" dirty="0">
                <a:solidFill>
                  <a:srgbClr val="DDDDDD"/>
                </a:solidFill>
                <a:latin typeface="Times New Roman" panose="02020603050405020304" pitchFamily="18" charset="0"/>
                <a:cs typeface="Times New Roman" panose="02020603050405020304" pitchFamily="18" charset="0"/>
              </a:rPr>
              <a:t>IOT Based Digital LCD Notice 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15"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2"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a:t>
            </a:fld>
            <a:endParaRPr lang="en-US" sz="1000" dirty="0">
              <a:solidFill>
                <a:schemeClr val="tx1">
                  <a:lumMod val="50000"/>
                  <a:lumOff val="50000"/>
                </a:schemeClr>
              </a:solidFill>
            </a:endParaRPr>
          </a:p>
        </p:txBody>
      </p:sp>
      <p:sp>
        <p:nvSpPr>
          <p:cNvPr id="5" name="Title 4">
            <a:extLst>
              <a:ext uri="{FF2B5EF4-FFF2-40B4-BE49-F238E27FC236}">
                <a16:creationId xmlns:a16="http://schemas.microsoft.com/office/drawing/2014/main" id="{4E14B020-69E8-12C2-7DCE-21BBAE844A9A}"/>
              </a:ext>
            </a:extLst>
          </p:cNvPr>
          <p:cNvSpPr>
            <a:spLocks noGrp="1"/>
          </p:cNvSpPr>
          <p:nvPr>
            <p:ph type="title"/>
          </p:nvPr>
        </p:nvSpPr>
        <p:spPr>
          <a:xfrm>
            <a:off x="708660" y="274638"/>
            <a:ext cx="7978140" cy="1143000"/>
          </a:xfrm>
        </p:spPr>
        <p:txBody>
          <a:bodyPr/>
          <a:lstStyle/>
          <a:p>
            <a:pPr algn="l"/>
            <a:r>
              <a:rPr lang="en-US" dirty="0">
                <a:solidFill>
                  <a:srgbClr val="FFFFFF"/>
                </a:solidFill>
                <a:latin typeface="Times New Roman"/>
                <a:cs typeface="Times New Roman"/>
              </a:rPr>
              <a:t>Table of Contents</a:t>
            </a:r>
            <a:endParaRPr lang="en-IN" dirty="0"/>
          </a:p>
        </p:txBody>
      </p:sp>
      <p:sp>
        <p:nvSpPr>
          <p:cNvPr id="1048603" name="TextBox 6"/>
          <p:cNvSpPr txBox="1"/>
          <p:nvPr/>
        </p:nvSpPr>
        <p:spPr>
          <a:xfrm>
            <a:off x="344512" y="2023228"/>
            <a:ext cx="8046253" cy="4560133"/>
          </a:xfrm>
          <a:prstGeom prst="rect">
            <a:avLst/>
          </a:prstGeom>
        </p:spPr>
        <p:txBody>
          <a:bodyPr vert="horz" lIns="91440" tIns="45720" rIns="91440" bIns="45720" rtlCol="0" anchor="ctr">
            <a:normAutofit fontScale="85000" lnSpcReduction="20000"/>
          </a:bodyPr>
          <a:lstStyle/>
          <a:p>
            <a:pPr marL="457200" indent="-228600" algn="just" defTabSz="914400" fontAlgn="base">
              <a:lnSpc>
                <a:spcPct val="90000"/>
              </a:lnSpc>
              <a:spcBef>
                <a:spcPct val="0"/>
              </a:spcBef>
              <a:spcAft>
                <a:spcPts val="600"/>
              </a:spcAft>
              <a:buFont typeface="Arial" panose="020B0604020202020204" pitchFamily="34" charset="0"/>
              <a:buChar char="•"/>
            </a:pPr>
            <a:r>
              <a:rPr lang="en-US" altLang="en-US" sz="2400" dirty="0">
                <a:latin typeface="Times New Roman"/>
                <a:cs typeface="Times New Roman"/>
              </a:rPr>
              <a:t>Abstract</a:t>
            </a:r>
            <a:endParaRPr kumimoji="0" lang="en-US"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Introduction</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Existing system</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US" altLang="en-US" sz="2400" b="0" i="0" u="none" strike="noStrike" cap="none" normalizeH="0" baseline="0" dirty="0">
                <a:ln>
                  <a:noFill/>
                </a:ln>
                <a:effectLst/>
                <a:latin typeface="Times New Roman"/>
                <a:ea typeface="Calibri"/>
                <a:cs typeface="Times New Roman"/>
              </a:rPr>
              <a:t>Literature survey</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Problem Statement</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Proposed System</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ea typeface="Calibri"/>
                <a:cs typeface="Times New Roman"/>
              </a:rPr>
              <a:t>Hardware Requirements </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ea typeface="Calibri"/>
                <a:cs typeface="Times New Roman"/>
              </a:rPr>
              <a:t>Software Requirements </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System Architecture</a:t>
            </a:r>
            <a:endParaRPr kumimoji="0" lang="en-GB"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UML diagrams</a:t>
            </a:r>
            <a:endParaRPr lang="en-US" altLang="en-US" sz="2400" b="0" i="0" u="none" strike="noStrike" cap="none" normalizeH="0" baseline="0" dirty="0">
              <a:ln>
                <a:noFill/>
              </a:ln>
              <a:effectLst/>
              <a:latin typeface="Times New Roman"/>
              <a:ea typeface="Calibri"/>
              <a:cs typeface="Times New Roman"/>
            </a:endParaRPr>
          </a:p>
          <a:p>
            <a:pPr marL="457200" indent="-228600" algn="just" defTabSz="914400" fontAlgn="base">
              <a:lnSpc>
                <a:spcPct val="90000"/>
              </a:lnSpc>
              <a:spcBef>
                <a:spcPct val="0"/>
              </a:spcBef>
              <a:spcAft>
                <a:spcPts val="600"/>
              </a:spcAft>
              <a:buFont typeface="Arial" panose="020B0604020202020204" pitchFamily="34" charset="0"/>
              <a:buChar char="•"/>
            </a:pPr>
            <a:r>
              <a:rPr lang="en-US" altLang="en-US" sz="2400" dirty="0">
                <a:latin typeface="Times New Roman"/>
                <a:cs typeface="Times New Roman"/>
              </a:rPr>
              <a:t>Algorithms Specialization</a:t>
            </a:r>
          </a:p>
          <a:p>
            <a:pPr marL="457200" indent="-228600" algn="just" defTabSz="914400" fontAlgn="base">
              <a:lnSpc>
                <a:spcPct val="90000"/>
              </a:lnSpc>
              <a:spcBef>
                <a:spcPct val="0"/>
              </a:spcBef>
              <a:spcAft>
                <a:spcPts val="600"/>
              </a:spcAft>
              <a:buFont typeface="Arial" panose="020B0604020202020204" pitchFamily="34" charset="0"/>
              <a:buChar char="•"/>
            </a:pPr>
            <a:r>
              <a:rPr lang="en-US" altLang="en-US" sz="2400" b="0" i="0" u="none" strike="noStrike" cap="none" normalizeH="0" baseline="0" dirty="0">
                <a:ln>
                  <a:noFill/>
                </a:ln>
                <a:effectLst/>
                <a:latin typeface="Times New Roman"/>
                <a:ea typeface="Calibri"/>
                <a:cs typeface="Times New Roman"/>
              </a:rPr>
              <a:t>Results</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Conclusion</a:t>
            </a:r>
            <a:endParaRPr kumimoji="0" lang="en-GB"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Future scope</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References</a:t>
            </a:r>
            <a:endParaRPr lang="en-US" altLang="en-US" sz="2400" b="0" i="0" u="none" strike="noStrike" cap="none" normalizeH="0" baseline="0" dirty="0">
              <a:ln>
                <a:noFill/>
              </a:ln>
              <a:effectLst/>
              <a:latin typeface="Times New Roman"/>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61AF06-F5AC-FBBC-1952-4136DBB43E1C}"/>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D7F25D2F-3D3D-ED04-C02D-3B8C653139BF}"/>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5A3EC3C8-659A-D31F-DEC2-FEA4886AB2F6}"/>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432F1B4F-3C6F-8B5B-BC11-BB893740C8C7}"/>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E09F9992-450C-DEC0-7F94-2A6FAEB97D17}"/>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B0C8F2C8-A6EC-8E99-F920-41DC63F44A70}"/>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4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87504202-BDD3-4B05-51C3-71D21911C172}"/>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Abstract</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0DC12C07-D1ED-FBCE-E449-D84B9D1EDF7C}"/>
              </a:ext>
            </a:extLst>
          </p:cNvPr>
          <p:cNvSpPr>
            <a:spLocks noGrp="1"/>
          </p:cNvSpPr>
          <p:nvPr>
            <p:ph idx="1"/>
          </p:nvPr>
        </p:nvSpPr>
        <p:spPr>
          <a:xfrm>
            <a:off x="1028699" y="2318197"/>
            <a:ext cx="7293023" cy="3683358"/>
          </a:xfrm>
        </p:spPr>
        <p:txBody>
          <a:bodyPr vert="horz" lIns="91440" tIns="45720" rIns="91440" bIns="45720" rtlCol="0" anchor="ctr">
            <a:normAutofit/>
          </a:bodyPr>
          <a:lstStyle/>
          <a:p>
            <a:pPr algn="just">
              <a:spcBef>
                <a:spcPts val="0"/>
              </a:spcBef>
              <a:spcAft>
                <a:spcPts val="600"/>
              </a:spcAft>
              <a:buFont typeface="Wingdings"/>
              <a:buChar char="q"/>
            </a:pPr>
            <a:r>
              <a:rPr lang="en-US" sz="2000" dirty="0">
                <a:latin typeface="Times New Roman"/>
                <a:ea typeface="Calibri"/>
                <a:cs typeface="Times New Roman"/>
              </a:rPr>
              <a:t>The IoT Based Digital LCD Notice Board System is a smart embedded system designed to display notices electronically using internet communication. The system allows authorized users to send messages through a web or mobile interface. These messages are stored in a cloud database and retrieved by a Wi-Fi-enabled microcontroller such as NodeMCU (ESP8266/ESP32).</a:t>
            </a:r>
            <a:endParaRPr lang="en-US" dirty="0">
              <a:ea typeface="Calibri"/>
              <a:cs typeface="Calibri"/>
            </a:endParaRPr>
          </a:p>
          <a:p>
            <a:pPr algn="just">
              <a:spcBef>
                <a:spcPts val="0"/>
              </a:spcBef>
              <a:spcAft>
                <a:spcPts val="600"/>
              </a:spcAft>
              <a:buFont typeface="Wingdings"/>
              <a:buChar char="q"/>
            </a:pPr>
            <a:r>
              <a:rPr lang="en-US" sz="2000" dirty="0">
                <a:latin typeface="Times New Roman"/>
                <a:ea typeface="Calibri"/>
                <a:cs typeface="Times New Roman"/>
              </a:rPr>
              <a:t>The received data is displayed on an LCD screen in real-time. This system eliminates manual effort, reduces paper consumption, ensures instant updates, and enhances communication efficiency in organizations.</a:t>
            </a:r>
          </a:p>
        </p:txBody>
      </p:sp>
      <p:sp>
        <p:nvSpPr>
          <p:cNvPr id="1048622" name="Slide Number Placeholder 3">
            <a:extLst>
              <a:ext uri="{FF2B5EF4-FFF2-40B4-BE49-F238E27FC236}">
                <a16:creationId xmlns:a16="http://schemas.microsoft.com/office/drawing/2014/main" id="{6EA048BD-F618-D854-B772-6AA21D3C38CA}"/>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3</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2284392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D71BAE-05E7-0A9E-4092-344FD6F08C41}"/>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A593A3FC-4C94-087E-C009-C9D4F9C3D8A7}"/>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C5776E82-873E-59FF-EEF7-0993A0C48DA0}"/>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D98D0ED5-4742-4892-19E3-0713A9D57227}"/>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21A7B5FF-F7FC-E9D6-33D2-62DC8A3A5D21}"/>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7487F789-19FF-F5EC-7029-62B712B1B1D9}"/>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D491CE4F-F232-A791-D471-14056875F9EC}"/>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Introduction</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B228588D-F239-8222-24E8-77EC070AA35C}"/>
              </a:ext>
            </a:extLst>
          </p:cNvPr>
          <p:cNvSpPr>
            <a:spLocks noGrp="1"/>
          </p:cNvSpPr>
          <p:nvPr>
            <p:ph idx="1"/>
          </p:nvPr>
        </p:nvSpPr>
        <p:spPr>
          <a:xfrm>
            <a:off x="382328" y="1885279"/>
            <a:ext cx="8068334" cy="4282924"/>
          </a:xfrm>
        </p:spPr>
        <p:txBody>
          <a:bodyPr vert="horz" lIns="91440" tIns="45720" rIns="91440" bIns="45720" rtlCol="0" anchor="ctr">
            <a:normAutofit/>
          </a:bodyPr>
          <a:lstStyle/>
          <a:p>
            <a:pPr algn="just"/>
            <a:r>
              <a:rPr lang="en-US" sz="2000" dirty="0">
                <a:latin typeface="Times New Roman"/>
                <a:cs typeface="Times New Roman"/>
              </a:rPr>
              <a:t> </a:t>
            </a:r>
            <a:r>
              <a:rPr lang="en-US" sz="2000" dirty="0">
                <a:latin typeface="Times New Roman"/>
                <a:ea typeface="+mn-lt"/>
                <a:cs typeface="Times New Roman"/>
              </a:rPr>
              <a:t>Traditional notice boards often lead to delays, wastage of paper, and manual effort to update announcements. Our IoT-Based Digital LCD Notice Board eliminates these hassles by enabling staff to post updates remotely via a web interface.</a:t>
            </a:r>
            <a:endParaRPr lang="en-US" sz="2000" dirty="0"/>
          </a:p>
          <a:p>
            <a:pPr algn="just"/>
            <a:r>
              <a:rPr lang="en-US" sz="2000" dirty="0">
                <a:latin typeface="Times New Roman"/>
                <a:ea typeface="+mn-lt"/>
                <a:cs typeface="Times New Roman"/>
              </a:rPr>
              <a:t> The notices are instantly displayed on the LCD screen, ensuring timely communication. This smart solution streamlines information sharing, reduces administrative workload, and promotes a paperless environment.</a:t>
            </a:r>
            <a:endParaRPr lang="en-US" sz="2000" dirty="0"/>
          </a:p>
          <a:p>
            <a:pPr algn="just"/>
            <a:r>
              <a:rPr lang="en-US" sz="2000" dirty="0">
                <a:latin typeface="Times New Roman"/>
                <a:ea typeface="+mn-lt"/>
                <a:cs typeface="Times New Roman"/>
              </a:rPr>
              <a:t>With the rapid advancement of the </a:t>
            </a:r>
            <a:r>
              <a:rPr lang="en-US" sz="2000" b="1" dirty="0">
                <a:latin typeface="Times New Roman"/>
                <a:ea typeface="+mn-lt"/>
                <a:cs typeface="Times New Roman"/>
              </a:rPr>
              <a:t>Internet of Things (IoT)</a:t>
            </a:r>
            <a:r>
              <a:rPr lang="en-US" sz="2000" dirty="0">
                <a:latin typeface="Times New Roman"/>
                <a:ea typeface="+mn-lt"/>
                <a:cs typeface="Times New Roman"/>
              </a:rPr>
              <a:t>, physical systems can now be connected to the internet for real-time data transmission and remote control.</a:t>
            </a:r>
            <a:endParaRPr lang="en-US" sz="2000" dirty="0">
              <a:latin typeface="Times New Roman"/>
              <a:ea typeface="Calibri"/>
              <a:cs typeface="Times New Roman"/>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8FC2ECC4-BC77-6186-8828-DE1A1D3AA48A}"/>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4</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4072556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DFCF5F0-1680-4211-715E-7E794A414433}"/>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747E526D-F14B-E1F8-FAAF-2813196B32D8}"/>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90CC85D8-AAE0-7F72-0171-DC22179C1D6D}"/>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A6665B03-DA78-8224-D46B-D32415516D22}"/>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5C32A7D3-7765-82FF-86C6-F8E68308FAA7}"/>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7D219C66-F108-79F7-1E9C-47BA5D85B637}"/>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3F4432AE-2788-EC8E-3397-AEACBFA53D14}"/>
              </a:ext>
            </a:extLst>
          </p:cNvPr>
          <p:cNvSpPr>
            <a:spLocks noGrp="1"/>
          </p:cNvSpPr>
          <p:nvPr>
            <p:ph type="title"/>
          </p:nvPr>
        </p:nvSpPr>
        <p:spPr>
          <a:xfrm>
            <a:off x="1028699" y="294538"/>
            <a:ext cx="7421963" cy="1033669"/>
          </a:xfrm>
        </p:spPr>
        <p:txBody>
          <a:bodyPr>
            <a:normAutofit/>
          </a:bodyPr>
          <a:lstStyle/>
          <a:p>
            <a:pPr algn="just"/>
            <a:r>
              <a:rPr lang="en-IN" sz="3600" b="1" dirty="0">
                <a:solidFill>
                  <a:schemeClr val="bg1"/>
                </a:solidFill>
                <a:latin typeface="Times New Roman" panose="02020603050405020304" pitchFamily="18" charset="0"/>
                <a:cs typeface="Times New Roman" panose="02020603050405020304" pitchFamily="18" charset="0"/>
              </a:rPr>
              <a:t>Existing System</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AA4C873B-290C-F354-1DC3-AF12D8509F58}"/>
              </a:ext>
            </a:extLst>
          </p:cNvPr>
          <p:cNvSpPr>
            <a:spLocks noGrp="1"/>
          </p:cNvSpPr>
          <p:nvPr>
            <p:ph idx="1"/>
          </p:nvPr>
        </p:nvSpPr>
        <p:spPr>
          <a:xfrm>
            <a:off x="382328" y="1885278"/>
            <a:ext cx="8068334" cy="4935277"/>
          </a:xfrm>
        </p:spPr>
        <p:txBody>
          <a:bodyPr vert="horz" lIns="91440" tIns="45720" rIns="91440" bIns="45720" rtlCol="0" anchor="ctr">
            <a:normAutofit fontScale="77500" lnSpcReduction="20000"/>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Traditional notice boards: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 Paper-based.</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Manual updates, time-consuming.</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Inefficient for urgent information.</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Computer-controlled digital boards:</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Require local system connection;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No remote accessibility. </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GSM/SMS-based display systems:</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Messages sent via SMS ;limited scalability and additional communication.</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 Overall limitations:  </a:t>
            </a:r>
          </a:p>
          <a:p>
            <a:pPr lvl="1"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a:t>
            </a:r>
            <a:r>
              <a:rPr lang="en-US" sz="2600" dirty="0">
                <a:latin typeface="Times New Roman" panose="02020603050405020304" pitchFamily="18" charset="0"/>
                <a:cs typeface="Times New Roman" panose="02020603050405020304" pitchFamily="18" charset="0"/>
              </a:rPr>
              <a:t>No real-time centralized control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High manual effort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Slow information dissemination  </a:t>
            </a:r>
          </a:p>
          <a:p>
            <a:pPr lvl="1" algn="just">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Limited flexibility and automation</a:t>
            </a:r>
            <a:endParaRPr lang="en-IN" sz="2600" dirty="0">
              <a:latin typeface="Times New Roman" panose="02020603050405020304" pitchFamily="18" charset="0"/>
              <a:cs typeface="Times New Roman" panose="02020603050405020304" pitchFamily="18" charset="0"/>
            </a:endParaRPr>
          </a:p>
          <a:p>
            <a:pPr marL="0" indent="0" algn="just">
              <a:spcBef>
                <a:spcPts val="0"/>
              </a:spcBef>
              <a:spcAft>
                <a:spcPts val="600"/>
              </a:spcAft>
              <a:buNone/>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2D6A223A-99DC-420B-E453-DE818B42B6CE}"/>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5</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13230754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9678DE-9334-1BC7-EB0F-E71641FC5295}"/>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C50F257D-0BBE-2F99-8374-0B49D26C360D}"/>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24C3A90F-A950-795B-9B53-A9FD5C54EF85}"/>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0776C07B-276A-4B07-A84A-A6A4448F4E96}"/>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61E5C500-E4E5-6F11-9EC1-30A20587BBA4}"/>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D84698EE-11C7-4514-A129-9E802D73C6CC}"/>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DA269848-AB26-49A5-917A-9AE9F2CA0F46}"/>
              </a:ext>
            </a:extLst>
          </p:cNvPr>
          <p:cNvSpPr>
            <a:spLocks noGrp="1"/>
          </p:cNvSpPr>
          <p:nvPr>
            <p:ph type="title"/>
          </p:nvPr>
        </p:nvSpPr>
        <p:spPr>
          <a:xfrm>
            <a:off x="1028699" y="294538"/>
            <a:ext cx="7421963" cy="1033669"/>
          </a:xfrm>
        </p:spPr>
        <p:txBody>
          <a:bodyPr>
            <a:normAutofit/>
          </a:bodyPr>
          <a:lstStyle/>
          <a:p>
            <a:pPr algn="just"/>
            <a:r>
              <a:rPr lang="en-IN" sz="3600" b="1" dirty="0">
                <a:solidFill>
                  <a:schemeClr val="bg1"/>
                </a:solidFill>
                <a:latin typeface="Times New Roman" panose="02020603050405020304" pitchFamily="18" charset="0"/>
                <a:cs typeface="Times New Roman" panose="02020603050405020304" pitchFamily="18" charset="0"/>
              </a:rPr>
              <a:t>Literature Survey</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62084FF1-3D31-4CBF-4B2C-7B3A9D0BCAE2}"/>
              </a:ext>
            </a:extLst>
          </p:cNvPr>
          <p:cNvSpPr>
            <a:spLocks noGrp="1"/>
          </p:cNvSpPr>
          <p:nvPr>
            <p:ph idx="1"/>
          </p:nvPr>
        </p:nvSpPr>
        <p:spPr>
          <a:xfrm>
            <a:off x="382328" y="1622744"/>
            <a:ext cx="8068334" cy="5235255"/>
          </a:xfrm>
        </p:spPr>
        <p:txBody>
          <a:bodyPr vert="horz" lIns="91440" tIns="45720" rIns="91440" bIns="45720" rtlCol="0" anchor="ctr">
            <a:normAutofit/>
          </a:bodyPr>
          <a:lstStyle/>
          <a:p>
            <a:pPr algn="just"/>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IoT-Based Notice Board Using Wi-Fi (IJERT)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IoT-based notice board with Wi-Fi and LCD display for remote updates.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Problem: Limited Wi-Fi range, requires stable internet.</a:t>
            </a:r>
          </a:p>
          <a:p>
            <a:pPr algn="just">
              <a:buFont typeface="Wingdings" panose="05000000000000000000" pitchFamily="2" charset="2"/>
              <a:buChar char="q"/>
            </a:pP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GSM-Based Wireless Display Board (IJARCET)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GSM-based display board for sending notices via SMS.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Problem: Relies on GSM network, may have message delay.</a:t>
            </a:r>
          </a:p>
          <a:p>
            <a:pPr algn="just">
              <a:buFont typeface="Wingdings" panose="05000000000000000000" pitchFamily="2" charset="2"/>
              <a:buChar char="q"/>
            </a:pPr>
            <a:r>
              <a:rPr lang="en-IN" sz="2000" b="1" dirty="0">
                <a:latin typeface="Times New Roman" panose="02020603050405020304" pitchFamily="18" charset="0"/>
                <a:cs typeface="Times New Roman" panose="02020603050405020304" pitchFamily="18" charset="0"/>
              </a:rPr>
              <a:t> IoT-Based Digital Notice Board with Android App (IJITEE)  </a:t>
            </a:r>
            <a:r>
              <a:rPr lang="en-IN" sz="2000" dirty="0">
                <a:latin typeface="Times New Roman" panose="02020603050405020304" pitchFamily="18" charset="0"/>
                <a:cs typeface="Times New Roman" panose="02020603050405020304" pitchFamily="18" charset="0"/>
              </a:rPr>
              <a:t>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Notice board with Android app for remote updates.  </a:t>
            </a:r>
          </a:p>
          <a:p>
            <a:pPr marL="800100" lvl="1"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Problem: Requires app installation, compatibility issues.</a:t>
            </a:r>
          </a:p>
          <a:p>
            <a:pPr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2000" b="1" dirty="0">
                <a:latin typeface="Times New Roman" panose="02020603050405020304" pitchFamily="18" charset="0"/>
                <a:cs typeface="Times New Roman" panose="02020603050405020304" pitchFamily="18" charset="0"/>
              </a:rPr>
              <a:t>Research Gap</a:t>
            </a:r>
            <a:r>
              <a:rPr lang="en-IN" sz="2000" dirty="0">
                <a:latin typeface="Times New Roman" panose="02020603050405020304" pitchFamily="18" charset="0"/>
                <a:cs typeface="Times New Roman" panose="02020603050405020304" pitchFamily="18" charset="0"/>
              </a:rPr>
              <a:t>: </a:t>
            </a:r>
          </a:p>
          <a:p>
            <a:pPr lvl="1" algn="just"/>
            <a:r>
              <a:rPr lang="en-IN" sz="2000" dirty="0">
                <a:latin typeface="Times New Roman" panose="02020603050405020304" pitchFamily="18" charset="0"/>
                <a:cs typeface="Times New Roman" panose="02020603050405020304" pitchFamily="18" charset="0"/>
              </a:rPr>
              <a:t>Limited focus on institutional-specific customization and scalability.</a:t>
            </a:r>
            <a:r>
              <a:rPr lang="en-GB" sz="2000" dirty="0">
                <a:latin typeface="Times New Roman" panose="02020603050405020304" pitchFamily="18" charset="0"/>
                <a:cs typeface="Times New Roman" panose="02020603050405020304" pitchFamily="18" charset="0"/>
              </a:rPr>
              <a:t>                                                        </a:t>
            </a:r>
            <a:endParaRPr lang="en-IN" sz="2000" dirty="0">
              <a:latin typeface="Times New Roman" panose="02020603050405020304" pitchFamily="18" charset="0"/>
              <a:cs typeface="Times New Roman" panose="02020603050405020304" pitchFamily="18" charset="0"/>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BDD01199-04FD-D3F0-81D8-B6D797EA07FB}"/>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6</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1427779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FA2AE7-3151-A71B-EEDE-66D1A5D08A7A}"/>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D08D99A4-136D-5E2D-A39A-D9DF83B71444}"/>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FB7DB2D2-6B08-61D1-F6BA-BF31B05C1B10}"/>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76B5F56A-3C28-6AD3-8C86-D88BFC3D0C50}"/>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8D728329-C16F-2E8A-F424-2EDAF78397D1}"/>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37DF5882-46B5-B8FF-7466-E02794A90FD7}"/>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C56A2FBB-8A25-CBEC-29C4-F7BC3F41017C}"/>
              </a:ext>
            </a:extLst>
          </p:cNvPr>
          <p:cNvSpPr>
            <a:spLocks noGrp="1"/>
          </p:cNvSpPr>
          <p:nvPr>
            <p:ph type="title"/>
          </p:nvPr>
        </p:nvSpPr>
        <p:spPr>
          <a:xfrm>
            <a:off x="1028699" y="294538"/>
            <a:ext cx="7421963" cy="1033669"/>
          </a:xfrm>
        </p:spPr>
        <p:txBody>
          <a:bodyPr>
            <a:normAutofit/>
          </a:bodyPr>
          <a:lstStyle/>
          <a:p>
            <a:pPr algn="just"/>
            <a:r>
              <a:rPr lang="en-IN" sz="3600" b="1" dirty="0">
                <a:solidFill>
                  <a:srgbClr val="FFFFFF"/>
                </a:solidFill>
                <a:latin typeface="Times New Roman"/>
                <a:cs typeface="Times New Roman"/>
              </a:rPr>
              <a:t>Problem Statement</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9BD7900B-0FC6-CA28-178F-C270AB903B5D}"/>
              </a:ext>
            </a:extLst>
          </p:cNvPr>
          <p:cNvSpPr>
            <a:spLocks noGrp="1"/>
          </p:cNvSpPr>
          <p:nvPr>
            <p:ph idx="1"/>
          </p:nvPr>
        </p:nvSpPr>
        <p:spPr>
          <a:xfrm>
            <a:off x="344512" y="1738864"/>
            <a:ext cx="8068334" cy="4561753"/>
          </a:xfrm>
        </p:spPr>
        <p:txBody>
          <a:bodyPr vert="horz" lIns="91440" tIns="45720" rIns="91440" bIns="45720" rtlCol="0" anchor="ctr">
            <a:normAutofit/>
          </a:bodyPr>
          <a:lstStyle/>
          <a:p>
            <a:pPr algn="just">
              <a:buNone/>
            </a:pPr>
            <a:r>
              <a:rPr lang="en-US" sz="2000" b="1" dirty="0">
                <a:latin typeface="Times New Roman"/>
                <a:ea typeface="+mn-lt"/>
                <a:cs typeface="Times New Roman"/>
              </a:rPr>
              <a:t>Traditional notice boards face several operational challenges:</a:t>
            </a:r>
            <a:endParaRPr lang="en-US" sz="2000" b="1" dirty="0">
              <a:latin typeface="Times New Roman"/>
              <a:cs typeface="Times New Roman"/>
            </a:endParaRPr>
          </a:p>
          <a:p>
            <a:pPr algn="just"/>
            <a:r>
              <a:rPr lang="en-US" sz="2000" dirty="0">
                <a:latin typeface="Times New Roman"/>
                <a:ea typeface="+mn-lt"/>
                <a:cs typeface="Times New Roman"/>
              </a:rPr>
              <a:t>Delays in updating information</a:t>
            </a:r>
            <a:endParaRPr lang="en-US" sz="2000" dirty="0">
              <a:latin typeface="Times New Roman"/>
              <a:cs typeface="Times New Roman"/>
            </a:endParaRPr>
          </a:p>
          <a:p>
            <a:pPr algn="just"/>
            <a:r>
              <a:rPr lang="en-US" sz="2000" dirty="0">
                <a:latin typeface="Times New Roman"/>
                <a:ea typeface="+mn-lt"/>
                <a:cs typeface="Times New Roman"/>
              </a:rPr>
              <a:t>Manual effort required for posting notices</a:t>
            </a:r>
            <a:endParaRPr lang="en-US" sz="2000" dirty="0">
              <a:latin typeface="Times New Roman"/>
              <a:cs typeface="Times New Roman"/>
            </a:endParaRPr>
          </a:p>
          <a:p>
            <a:pPr algn="just"/>
            <a:r>
              <a:rPr lang="en-US" sz="2000" dirty="0">
                <a:latin typeface="Times New Roman"/>
                <a:ea typeface="+mn-lt"/>
                <a:cs typeface="Times New Roman"/>
              </a:rPr>
              <a:t>Paper wastage and environmental impact</a:t>
            </a:r>
            <a:endParaRPr lang="en-US" sz="2000" dirty="0">
              <a:latin typeface="Times New Roman"/>
              <a:cs typeface="Times New Roman"/>
            </a:endParaRPr>
          </a:p>
          <a:p>
            <a:pPr algn="just"/>
            <a:r>
              <a:rPr lang="en-US" sz="2000" dirty="0">
                <a:latin typeface="Times New Roman"/>
                <a:ea typeface="+mn-lt"/>
                <a:cs typeface="Times New Roman"/>
              </a:rPr>
              <a:t>Risk of notices being removed or damaged.</a:t>
            </a:r>
          </a:p>
          <a:p>
            <a:pPr algn="just"/>
            <a:r>
              <a:rPr lang="en-US" sz="2000" dirty="0">
                <a:latin typeface="Times New Roman"/>
                <a:ea typeface="+mn-lt"/>
                <a:cs typeface="Times New Roman"/>
              </a:rPr>
              <a:t>There is a need for an automated, real-time, and remotely accessible notice display system.</a:t>
            </a:r>
          </a:p>
          <a:p>
            <a:pPr algn="just"/>
            <a:r>
              <a:rPr lang="en-US" sz="2000" dirty="0">
                <a:latin typeface="Times New Roman"/>
                <a:ea typeface="+mn-lt"/>
                <a:cs typeface="Times New Roman"/>
              </a:rPr>
              <a:t>Increased operational cost due to printing</a:t>
            </a:r>
            <a:endParaRPr lang="en-US" sz="2000" dirty="0">
              <a:latin typeface="Times New Roman"/>
              <a:cs typeface="Times New Roman"/>
            </a:endParaRPr>
          </a:p>
          <a:p>
            <a:pPr algn="just"/>
            <a:r>
              <a:rPr lang="en-US" sz="2000" dirty="0">
                <a:latin typeface="Times New Roman"/>
                <a:ea typeface="+mn-lt"/>
                <a:cs typeface="Times New Roman"/>
              </a:rPr>
              <a:t>Limited scalability</a:t>
            </a:r>
            <a:endParaRPr lang="en-US" sz="2000" dirty="0">
              <a:latin typeface="Times New Roman"/>
              <a:cs typeface="Times New Roman"/>
            </a:endParaRPr>
          </a:p>
          <a:p>
            <a:pPr marL="0" indent="0" algn="just">
              <a:buNone/>
            </a:pPr>
            <a:endParaRPr lang="en-US" sz="2000" dirty="0">
              <a:latin typeface="Times New Roman" panose="02020603050405020304" pitchFamily="18" charset="0"/>
              <a:cs typeface="Times New Roman" panose="02020603050405020304" pitchFamily="18" charset="0"/>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F9D6CCAB-F52F-AB88-C48A-134EDB15BA8B}"/>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7</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1284043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222437-4E55-95F6-7398-EF02D79CC9E7}"/>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E234E246-5F96-95D5-1DC0-7C5F6A06AB1A}"/>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8828BADF-D2E3-6511-0FE8-E67E81A4AE99}"/>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80C64195-6FB3-E10B-207F-22E574B114CC}"/>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BFFEB09D-DD2C-DBC8-3A86-BA88FFE72C18}"/>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4249988C-D4E4-F89D-56E9-02047E34756C}"/>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35D20F4A-96A1-FDA2-5001-3CD83DD41A7B}"/>
              </a:ext>
            </a:extLst>
          </p:cNvPr>
          <p:cNvSpPr>
            <a:spLocks noGrp="1"/>
          </p:cNvSpPr>
          <p:nvPr>
            <p:ph type="title"/>
          </p:nvPr>
        </p:nvSpPr>
        <p:spPr>
          <a:xfrm>
            <a:off x="1028699" y="294538"/>
            <a:ext cx="7421963" cy="1033669"/>
          </a:xfrm>
        </p:spPr>
        <p:txBody>
          <a:bodyPr>
            <a:normAutofit/>
          </a:bodyPr>
          <a:lstStyle/>
          <a:p>
            <a:pPr algn="just"/>
            <a:r>
              <a:rPr lang="en-US" sz="3600" b="1" dirty="0">
                <a:solidFill>
                  <a:schemeClr val="bg1"/>
                </a:solidFill>
                <a:latin typeface="Times New Roman"/>
                <a:cs typeface="Times New Roman"/>
              </a:rPr>
              <a:t>Proposed System</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89FC1F88-D4D1-5991-8CD3-12577F011602}"/>
              </a:ext>
            </a:extLst>
          </p:cNvPr>
          <p:cNvSpPr>
            <a:spLocks noGrp="1"/>
          </p:cNvSpPr>
          <p:nvPr>
            <p:ph idx="1"/>
          </p:nvPr>
        </p:nvSpPr>
        <p:spPr>
          <a:xfrm>
            <a:off x="382328" y="1622744"/>
            <a:ext cx="8068334" cy="5235255"/>
          </a:xfrm>
        </p:spPr>
        <p:txBody>
          <a:bodyPr vert="horz" lIns="91440" tIns="45720" rIns="91440" bIns="45720" rtlCol="0" anchor="ctr">
            <a:normAutofit/>
          </a:bodyPr>
          <a:lstStyle/>
          <a:p>
            <a:pPr marL="0" indent="0" algn="just">
              <a:spcBef>
                <a:spcPts val="0"/>
              </a:spcBef>
              <a:buNone/>
            </a:pPr>
            <a:r>
              <a:rPr lang="en-US" sz="2000" dirty="0">
                <a:latin typeface="Times New Roman"/>
                <a:ea typeface="Calibri"/>
                <a:cs typeface="Times New Roman"/>
              </a:rPr>
              <a:t>We are overcoming the existing system problems by implementing the following enhanced features:</a:t>
            </a:r>
          </a:p>
          <a:p>
            <a:pPr marL="0" indent="0" algn="just">
              <a:spcBef>
                <a:spcPts val="0"/>
              </a:spcBef>
              <a:buNone/>
            </a:pPr>
            <a:endParaRPr lang="en-US" sz="2000" dirty="0">
              <a:latin typeface="Times New Roman"/>
              <a:ea typeface="Calibri"/>
              <a:cs typeface="Times New Roman"/>
            </a:endParaRPr>
          </a:p>
          <a:p>
            <a:pPr marL="0" indent="0" algn="just">
              <a:spcBef>
                <a:spcPts val="0"/>
              </a:spcBef>
              <a:buNone/>
            </a:pPr>
            <a:r>
              <a:rPr lang="en-US" sz="2000" b="1" dirty="0">
                <a:latin typeface="Times New Roman"/>
                <a:ea typeface="Calibri"/>
                <a:cs typeface="Times New Roman"/>
              </a:rPr>
              <a:t>1.Remote Notice Upload &amp; Management</a:t>
            </a:r>
            <a:endParaRPr lang="en-US" sz="2000" dirty="0">
              <a:latin typeface="Times New Roman"/>
              <a:cs typeface="Times New Roman"/>
            </a:endParaRPr>
          </a:p>
          <a:p>
            <a:pPr marL="0" indent="0" algn="just">
              <a:spcBef>
                <a:spcPts val="0"/>
              </a:spcBef>
              <a:buNone/>
            </a:pPr>
            <a:endParaRPr lang="en-US" sz="2000" dirty="0">
              <a:latin typeface="Times New Roman"/>
              <a:ea typeface="Calibri"/>
              <a:cs typeface="Times New Roman"/>
            </a:endParaRPr>
          </a:p>
          <a:p>
            <a:pPr marL="0" indent="0" algn="just">
              <a:spcBef>
                <a:spcPts val="0"/>
              </a:spcBef>
              <a:buNone/>
            </a:pPr>
            <a:r>
              <a:rPr lang="en-US" sz="2000" dirty="0">
                <a:latin typeface="Times New Roman"/>
                <a:ea typeface="Calibri"/>
                <a:cs typeface="Times New Roman"/>
              </a:rPr>
              <a:t>• Authorized users (Admin/staff) can send notices through a web or mobile interface.</a:t>
            </a:r>
          </a:p>
          <a:p>
            <a:pPr marL="0" indent="0" algn="just">
              <a:spcBef>
                <a:spcPts val="0"/>
              </a:spcBef>
              <a:buNone/>
            </a:pPr>
            <a:r>
              <a:rPr lang="en-US" sz="2000" dirty="0">
                <a:latin typeface="Times New Roman"/>
                <a:ea typeface="Calibri"/>
                <a:cs typeface="Times New Roman"/>
              </a:rPr>
              <a:t>• Secure login authentication ensures controlled access.</a:t>
            </a:r>
          </a:p>
          <a:p>
            <a:pPr marL="0" indent="0" algn="just">
              <a:spcBef>
                <a:spcPts val="0"/>
              </a:spcBef>
              <a:buNone/>
            </a:pPr>
            <a:r>
              <a:rPr lang="en-US" sz="2000" dirty="0">
                <a:latin typeface="Times New Roman"/>
                <a:ea typeface="Calibri"/>
                <a:cs typeface="Times New Roman"/>
              </a:rPr>
              <a:t>• Notices can be added, edited, or deleted in real-time.</a:t>
            </a:r>
          </a:p>
          <a:p>
            <a:pPr marL="0" indent="0" algn="just">
              <a:spcBef>
                <a:spcPts val="0"/>
              </a:spcBef>
              <a:buNone/>
            </a:pPr>
            <a:r>
              <a:rPr lang="en-US" sz="2000" dirty="0">
                <a:latin typeface="Times New Roman"/>
                <a:ea typeface="Calibri"/>
                <a:cs typeface="Times New Roman"/>
              </a:rPr>
              <a:t>• Multiple notice boards can be managed from a single dashboard.</a:t>
            </a:r>
          </a:p>
          <a:p>
            <a:pPr marL="0" indent="0" algn="just">
              <a:spcBef>
                <a:spcPts val="0"/>
              </a:spcBef>
              <a:buNone/>
            </a:pPr>
            <a:endParaRPr lang="en-US" sz="2000" dirty="0">
              <a:latin typeface="Times New Roman"/>
              <a:ea typeface="Calibri"/>
              <a:cs typeface="Times New Roman"/>
            </a:endParaRPr>
          </a:p>
          <a:p>
            <a:pPr marL="0" indent="0" algn="just">
              <a:spcBef>
                <a:spcPts val="0"/>
              </a:spcBef>
              <a:buNone/>
            </a:pPr>
            <a:r>
              <a:rPr lang="en-US" sz="2000" b="1" dirty="0">
                <a:latin typeface="Times New Roman"/>
                <a:ea typeface="Calibri"/>
                <a:cs typeface="Times New Roman"/>
              </a:rPr>
              <a:t>2.Real-Time Notice Display</a:t>
            </a:r>
          </a:p>
          <a:p>
            <a:pPr marL="0" indent="0" algn="just">
              <a:spcBef>
                <a:spcPts val="0"/>
              </a:spcBef>
              <a:buNone/>
            </a:pPr>
            <a:endParaRPr lang="en-US" sz="2000" b="1" dirty="0">
              <a:latin typeface="Times New Roman"/>
              <a:ea typeface="Calibri"/>
              <a:cs typeface="Times New Roman"/>
            </a:endParaRPr>
          </a:p>
          <a:p>
            <a:pPr marL="0" indent="0" algn="just">
              <a:spcBef>
                <a:spcPts val="0"/>
              </a:spcBef>
              <a:buNone/>
            </a:pPr>
            <a:r>
              <a:rPr lang="en-US" sz="2000" dirty="0">
                <a:latin typeface="Times New Roman"/>
                <a:ea typeface="Calibri"/>
                <a:cs typeface="Times New Roman"/>
              </a:rPr>
              <a:t>• The system displays notices instantly on the LCD screen once uploaded.</a:t>
            </a:r>
          </a:p>
          <a:p>
            <a:pPr marL="0" indent="0" algn="just">
              <a:spcBef>
                <a:spcPts val="0"/>
              </a:spcBef>
              <a:buNone/>
            </a:pPr>
            <a:r>
              <a:rPr lang="en-US" sz="2000" dirty="0">
                <a:latin typeface="Times New Roman"/>
                <a:ea typeface="Calibri"/>
                <a:cs typeface="Times New Roman"/>
              </a:rPr>
              <a:t>• Messages are fetched dynamically from the cloud server using Wi-Fi.</a:t>
            </a:r>
          </a:p>
          <a:p>
            <a:pPr marL="0" indent="0" algn="just">
              <a:spcBef>
                <a:spcPts val="0"/>
              </a:spcBef>
              <a:buNone/>
            </a:pPr>
            <a:r>
              <a:rPr lang="en-US" sz="2000" dirty="0">
                <a:latin typeface="Times New Roman"/>
                <a:ea typeface="Calibri"/>
                <a:cs typeface="Times New Roman"/>
              </a:rPr>
              <a:t>• Supports automatic scrolling for lengthy messages.</a:t>
            </a: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DFEC4C54-14A4-E898-C5E3-A01E6CB25945}"/>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8</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37011916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41" name="Rectangle 21"/>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2" name="TextBox 6"/>
          <p:cNvSpPr txBox="1"/>
          <p:nvPr/>
        </p:nvSpPr>
        <p:spPr>
          <a:xfrm>
            <a:off x="311970" y="184363"/>
            <a:ext cx="8011147" cy="6203421"/>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a:bodyPr>
          <a:lstStyle/>
          <a:p>
            <a:pPr algn="just" defTabSz="914400">
              <a:lnSpc>
                <a:spcPct val="90000"/>
              </a:lnSpc>
              <a:spcAft>
                <a:spcPts val="600"/>
              </a:spcAft>
            </a:pPr>
            <a:endParaRPr lang="en-US" sz="2000" dirty="0">
              <a:latin typeface="Times New Roman"/>
              <a:ea typeface="Calibri"/>
              <a:cs typeface="Times New Roman"/>
            </a:endParaRPr>
          </a:p>
          <a:p>
            <a:pPr algn="just" defTabSz="914400">
              <a:lnSpc>
                <a:spcPct val="90000"/>
              </a:lnSpc>
              <a:spcAft>
                <a:spcPts val="600"/>
              </a:spcAft>
            </a:pPr>
            <a:r>
              <a:rPr lang="en-US" sz="2000" b="1" dirty="0">
                <a:latin typeface="Times New Roman"/>
                <a:ea typeface="+mn-lt"/>
                <a:cs typeface="Times New Roman"/>
              </a:rPr>
              <a:t>3.Cloud-Based Data Storage</a:t>
            </a:r>
          </a:p>
          <a:p>
            <a:pPr marL="285750" indent="-285750" algn="just" defTabSz="914400">
              <a:lnSpc>
                <a:spcPct val="90000"/>
              </a:lnSpc>
              <a:spcAft>
                <a:spcPts val="600"/>
              </a:spcAft>
              <a:buFont typeface="Arial"/>
              <a:buChar char="•"/>
            </a:pPr>
            <a:endParaRPr lang="en-US" sz="2000" dirty="0">
              <a:latin typeface="Times New Roman"/>
              <a:ea typeface="+mn-lt"/>
              <a:cs typeface="Times New Roman"/>
            </a:endParaRPr>
          </a:p>
          <a:p>
            <a:pPr marL="342900" indent="-342900" algn="just" defTabSz="914400">
              <a:lnSpc>
                <a:spcPct val="90000"/>
              </a:lnSpc>
              <a:spcAft>
                <a:spcPts val="600"/>
              </a:spcAft>
              <a:buFont typeface="Arial"/>
              <a:buChar char="•"/>
            </a:pPr>
            <a:r>
              <a:rPr lang="en-US" sz="2000" dirty="0">
                <a:latin typeface="Times New Roman"/>
                <a:ea typeface="+mn-lt"/>
                <a:cs typeface="Times New Roman"/>
              </a:rPr>
              <a:t>All notices are stored securely in a cloud database (Firebase/MQTT/IoT platform). </a:t>
            </a:r>
          </a:p>
          <a:p>
            <a:pPr marL="342900" indent="-342900" algn="just" defTabSz="914400">
              <a:lnSpc>
                <a:spcPct val="90000"/>
              </a:lnSpc>
              <a:spcAft>
                <a:spcPts val="600"/>
              </a:spcAft>
              <a:buFont typeface="Arial"/>
              <a:buChar char="•"/>
            </a:pPr>
            <a:r>
              <a:rPr lang="en-US" sz="2000" dirty="0">
                <a:latin typeface="Times New Roman"/>
                <a:ea typeface="+mn-lt"/>
                <a:cs typeface="Times New Roman"/>
              </a:rPr>
              <a:t>Data synchronization between server and display unit. </a:t>
            </a:r>
          </a:p>
          <a:p>
            <a:pPr marL="342900" indent="-342900" algn="just" defTabSz="914400">
              <a:lnSpc>
                <a:spcPct val="90000"/>
              </a:lnSpc>
              <a:spcAft>
                <a:spcPts val="600"/>
              </a:spcAft>
              <a:buFont typeface="Arial"/>
              <a:buChar char="•"/>
            </a:pPr>
            <a:r>
              <a:rPr lang="en-US" sz="2000" dirty="0">
                <a:latin typeface="Times New Roman"/>
                <a:ea typeface="+mn-lt"/>
                <a:cs typeface="Times New Roman"/>
              </a:rPr>
              <a:t>Ensures reliability and centralized control. </a:t>
            </a:r>
          </a:p>
          <a:p>
            <a:pPr marL="342900" indent="-342900" algn="just" defTabSz="914400">
              <a:lnSpc>
                <a:spcPct val="90000"/>
              </a:lnSpc>
              <a:spcAft>
                <a:spcPts val="600"/>
              </a:spcAft>
              <a:buFont typeface="Arial"/>
              <a:buChar char="•"/>
            </a:pPr>
            <a:r>
              <a:rPr lang="en-US" sz="2000" dirty="0">
                <a:latin typeface="Times New Roman"/>
                <a:ea typeface="+mn-lt"/>
                <a:cs typeface="Times New Roman"/>
              </a:rPr>
              <a:t>Enables access from anywhere via the internet.</a:t>
            </a:r>
          </a:p>
          <a:p>
            <a:pPr marL="342900" indent="-342900" algn="just" defTabSz="914400">
              <a:lnSpc>
                <a:spcPct val="90000"/>
              </a:lnSpc>
              <a:spcAft>
                <a:spcPts val="600"/>
              </a:spcAft>
              <a:buFont typeface="Arial"/>
              <a:buChar char="•"/>
            </a:pPr>
            <a:endParaRPr lang="en-US" sz="2000" dirty="0">
              <a:latin typeface="Times New Roman"/>
              <a:ea typeface="Calibri"/>
              <a:cs typeface="Times New Roman"/>
            </a:endParaRPr>
          </a:p>
          <a:p>
            <a:pPr algn="just" defTabSz="914400"/>
            <a:r>
              <a:rPr lang="en-US" sz="2000" b="1" dirty="0">
                <a:latin typeface="Times New Roman"/>
                <a:cs typeface="Times New Roman"/>
              </a:rPr>
              <a:t>4.Faculty Control &amp; Access Management</a:t>
            </a:r>
            <a:endParaRPr lang="en-US" sz="2000" b="1" dirty="0">
              <a:latin typeface="Times New Roman"/>
              <a:ea typeface="Calibri"/>
              <a:cs typeface="Times New Roman"/>
            </a:endParaRPr>
          </a:p>
          <a:p>
            <a:pPr algn="just" defTabSz="914400"/>
            <a:endParaRPr lang="en-US" sz="2000" b="1" dirty="0">
              <a:latin typeface="Times New Roman"/>
              <a:ea typeface="+mn-lt"/>
              <a:cs typeface="Times New Roman"/>
            </a:endParaRPr>
          </a:p>
          <a:p>
            <a:pPr marL="342900" indent="-342900" algn="just" defTabSz="914400">
              <a:buFont typeface="Arial"/>
              <a:buChar char="•"/>
            </a:pPr>
            <a:r>
              <a:rPr lang="en-US" sz="2000" dirty="0">
                <a:latin typeface="Times New Roman"/>
                <a:ea typeface="+mn-lt"/>
                <a:cs typeface="Times New Roman"/>
              </a:rPr>
              <a:t>Only authorized faculty can manage notices through secure login.</a:t>
            </a:r>
          </a:p>
          <a:p>
            <a:pPr marL="342900" indent="-342900" algn="just" defTabSz="914400">
              <a:buFont typeface="Arial"/>
              <a:buChar char="•"/>
            </a:pPr>
            <a:r>
              <a:rPr lang="en-US" sz="2000" dirty="0">
                <a:latin typeface="Times New Roman"/>
                <a:ea typeface="+mn-lt"/>
                <a:cs typeface="Times New Roman"/>
              </a:rPr>
              <a:t>Role-based control prevents unauthorized modifications.</a:t>
            </a:r>
          </a:p>
          <a:p>
            <a:pPr marL="342900" indent="-342900" algn="just" defTabSz="914400">
              <a:buFont typeface="Arial" panose="020B0604020202020204" pitchFamily="34" charset="0"/>
              <a:buChar char="•"/>
            </a:pPr>
            <a:r>
              <a:rPr lang="en-US" sz="2000" dirty="0">
                <a:latin typeface="Times New Roman"/>
                <a:ea typeface="+mn-lt"/>
                <a:cs typeface="Times New Roman"/>
              </a:rPr>
              <a:t>Faculty can:</a:t>
            </a:r>
          </a:p>
          <a:p>
            <a:pPr marL="800100" lvl="1" indent="-342900" algn="just" defTabSz="914400">
              <a:buFont typeface="Courier New" panose="02070309020205020404" pitchFamily="49" charset="0"/>
              <a:buChar char="o"/>
            </a:pPr>
            <a:r>
              <a:rPr lang="en-US" sz="2000" dirty="0">
                <a:latin typeface="Times New Roman"/>
                <a:ea typeface="+mn-lt"/>
                <a:cs typeface="Times New Roman"/>
              </a:rPr>
              <a:t>Create notices</a:t>
            </a:r>
            <a:endParaRPr lang="en-US" sz="2000" dirty="0">
              <a:latin typeface="Times New Roman"/>
              <a:ea typeface="Calibri"/>
              <a:cs typeface="Times New Roman"/>
            </a:endParaRPr>
          </a:p>
          <a:p>
            <a:pPr marL="800100" lvl="1" indent="-342900" algn="just" defTabSz="914400">
              <a:buFont typeface="Courier New" panose="02070309020205020404" pitchFamily="49" charset="0"/>
              <a:buChar char="o"/>
            </a:pPr>
            <a:r>
              <a:rPr lang="en-US" sz="2000" dirty="0">
                <a:latin typeface="Times New Roman"/>
                <a:ea typeface="+mn-lt"/>
                <a:cs typeface="Times New Roman"/>
              </a:rPr>
              <a:t>Edit notices</a:t>
            </a:r>
            <a:endParaRPr lang="en-US" sz="2000" dirty="0">
              <a:latin typeface="Times New Roman"/>
              <a:ea typeface="Calibri"/>
              <a:cs typeface="Times New Roman"/>
            </a:endParaRPr>
          </a:p>
          <a:p>
            <a:pPr marL="800100" lvl="1" indent="-342900" algn="just" defTabSz="914400">
              <a:buFont typeface="Courier New" panose="02070309020205020404" pitchFamily="49" charset="0"/>
              <a:buChar char="o"/>
            </a:pPr>
            <a:r>
              <a:rPr lang="en-US" sz="2000" dirty="0">
                <a:latin typeface="Times New Roman"/>
                <a:ea typeface="+mn-lt"/>
                <a:cs typeface="Times New Roman"/>
              </a:rPr>
              <a:t>Delete notices</a:t>
            </a:r>
            <a:endParaRPr lang="en-US" sz="2000" dirty="0">
              <a:latin typeface="Times New Roman"/>
              <a:ea typeface="Calibri"/>
              <a:cs typeface="Times New Roman"/>
            </a:endParaRPr>
          </a:p>
        </p:txBody>
      </p:sp>
      <p:sp>
        <p:nvSpPr>
          <p:cNvPr id="1048643" name="Rectangle 23"/>
          <p:cNvSpPr>
            <a:spLocks noGrp="1" noRot="1" noChangeAspect="1" noMove="1" noResize="1" noEditPoints="1" noAdjustHandles="1" noChangeArrowheads="1" noChangeShapeType="1" noTextEdit="1"/>
          </p:cNvSpPr>
          <p:nvPr/>
        </p:nvSpPr>
        <p:spPr>
          <a:xfrm rot="10800000" flipH="1">
            <a:off x="0" y="6400799"/>
            <a:ext cx="9144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4" name="Rectangle 25"/>
          <p:cNvSpPr>
            <a:spLocks noGrp="1" noRot="1" noChangeAspect="1" noMove="1" noResize="1" noEditPoints="1" noAdjustHandles="1" noChangeArrowheads="1" noChangeShapeType="1" noTextEdit="1"/>
          </p:cNvSpPr>
          <p:nvPr/>
        </p:nvSpPr>
        <p:spPr>
          <a:xfrm flipH="1">
            <a:off x="3028950" y="6400799"/>
            <a:ext cx="611504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5" name="Slide Number Placeholder 1"/>
          <p:cNvSpPr>
            <a:spLocks noGrp="1"/>
          </p:cNvSpPr>
          <p:nvPr>
            <p:ph type="sldNum" sz="quarter" idx="12"/>
          </p:nvPr>
        </p:nvSpPr>
        <p:spPr>
          <a:xfrm>
            <a:off x="8778239" y="6455664"/>
            <a:ext cx="336042" cy="365125"/>
          </a:xfrm>
        </p:spPr>
        <p:txBody>
          <a:bodyPr vert="horz" lIns="91440" tIns="45720" rIns="91440" bIns="45720" rtlCol="0" anchor="ctr">
            <a:normAutofit/>
          </a:bodyPr>
          <a:lstStyle/>
          <a:p>
            <a:pPr algn="just" defTabSz="914400">
              <a:spcAft>
                <a:spcPts val="600"/>
              </a:spcAft>
            </a:pPr>
            <a:fld id="{C1FF6DA9-008F-8B48-92A6-B652298478BF}" type="slidenum">
              <a:rPr lang="en-US" sz="1000">
                <a:solidFill>
                  <a:srgbClr val="FFFFFF"/>
                </a:solidFill>
              </a:rPr>
              <a:pPr algn="just" defTabSz="914400">
                <a:spcAft>
                  <a:spcPts val="600"/>
                </a:spcAft>
              </a:pPr>
              <a:t>9</a:t>
            </a:fld>
            <a:endParaRPr lang="en-US" sz="1000" dirty="0">
              <a:solidFill>
                <a:srgbClr val="FFFFFF"/>
              </a:solidFill>
            </a:endParaRPr>
          </a:p>
        </p:txBody>
      </p:sp>
      <p:sp>
        <p:nvSpPr>
          <p:cNvPr id="1048646" name="TextBox 5"/>
          <p:cNvSpPr txBox="1"/>
          <p:nvPr/>
        </p:nvSpPr>
        <p:spPr>
          <a:xfrm>
            <a:off x="3562597" y="804058"/>
            <a:ext cx="369866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47" name="Rectangle 33"/>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8" name="TextBox 3"/>
          <p:cNvSpPr txBox="1"/>
          <p:nvPr/>
        </p:nvSpPr>
        <p:spPr>
          <a:xfrm>
            <a:off x="107061" y="606581"/>
            <a:ext cx="8839200" cy="5187638"/>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just" defTabSz="914400">
              <a:lnSpc>
                <a:spcPct val="90000"/>
              </a:lnSpc>
              <a:spcAft>
                <a:spcPts val="600"/>
              </a:spcAft>
            </a:pPr>
            <a:r>
              <a:rPr lang="en-US" sz="2000" b="1" baseline="0" dirty="0">
                <a:latin typeface="Times New Roman"/>
                <a:cs typeface="Times New Roman"/>
              </a:rPr>
              <a:t>5.User-Friendly Interface</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Simple and clean web interface for faculty.</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Easy notice creation using text input.</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Responsive design supports desktop and mobile devices.</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Fast navigation between login, dashboard, and homepage.</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Designed for minimal technical knowledge.</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endParaRPr lang="en-US" sz="2000" dirty="0">
              <a:latin typeface="Times New Roman"/>
              <a:ea typeface="Calibri"/>
              <a:cs typeface="Times New Roman"/>
            </a:endParaRPr>
          </a:p>
          <a:p>
            <a:pPr algn="just" defTabSz="914400">
              <a:lnSpc>
                <a:spcPct val="90000"/>
              </a:lnSpc>
              <a:spcAft>
                <a:spcPts val="600"/>
              </a:spcAft>
            </a:pPr>
            <a:r>
              <a:rPr lang="en-US" sz="2000" b="1" baseline="0" dirty="0">
                <a:latin typeface="Times New Roman"/>
                <a:cs typeface="Times New Roman"/>
              </a:rPr>
              <a:t>6.Cost-Effective &amp; Eco-Friendly System</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Eliminates paper usage for notice dissemination.</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Reduces manual effort and maintenance cost.</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Uses low-power IoT hardware components.</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Long-term operational efficiency for institutions.</a:t>
            </a:r>
            <a:r>
              <a:rPr lang="en-US" sz="2000" dirty="0">
                <a:latin typeface="Times New Roman"/>
                <a:cs typeface="Times New Roman"/>
              </a:rPr>
              <a:t>​</a:t>
            </a:r>
            <a:endParaRPr lang="en-US" sz="2000" dirty="0">
              <a:latin typeface="Times New Roman"/>
              <a:ea typeface="Calibri"/>
              <a:cs typeface="Times New Roman"/>
            </a:endParaRPr>
          </a:p>
          <a:p>
            <a:pPr marL="228600" lvl="0" indent="-228600" algn="just" defTabSz="914400">
              <a:lnSpc>
                <a:spcPct val="90000"/>
              </a:lnSpc>
              <a:spcAft>
                <a:spcPts val="600"/>
              </a:spcAft>
              <a:buFont typeface="Arial" panose="020B0604020202020204" pitchFamily="34" charset="0"/>
              <a:buChar char="•"/>
            </a:pPr>
            <a:r>
              <a:rPr lang="en-US" sz="2000" baseline="0" dirty="0">
                <a:latin typeface="Times New Roman"/>
                <a:cs typeface="Times New Roman"/>
              </a:rPr>
              <a:t>Environmentally sustainable communication solution.</a:t>
            </a:r>
            <a:r>
              <a:rPr lang="en-US" sz="2000" dirty="0">
                <a:latin typeface="Times New Roman"/>
                <a:cs typeface="Times New Roman"/>
              </a:rPr>
              <a:t>​</a:t>
            </a:r>
            <a:endParaRPr lang="en-US" sz="2000" dirty="0">
              <a:latin typeface="Times New Roman"/>
              <a:ea typeface="Calibri"/>
              <a:cs typeface="Times New Roman"/>
            </a:endParaRPr>
          </a:p>
          <a:p>
            <a:pPr lvl="0" algn="just" defTabSz="914400">
              <a:lnSpc>
                <a:spcPct val="90000"/>
              </a:lnSpc>
              <a:spcAft>
                <a:spcPts val="600"/>
              </a:spcAft>
            </a:pPr>
            <a:endParaRPr lang="en-US" dirty="0">
              <a:latin typeface="Times New Roman"/>
              <a:ea typeface="Calibri"/>
              <a:cs typeface="Times New Roman"/>
            </a:endParaRPr>
          </a:p>
        </p:txBody>
      </p:sp>
      <p:sp>
        <p:nvSpPr>
          <p:cNvPr id="1048649" name="Rectangle 35"/>
          <p:cNvSpPr>
            <a:spLocks noGrp="1" noRot="1" noChangeAspect="1" noMove="1" noResize="1" noEditPoints="1" noAdjustHandles="1" noChangeArrowheads="1" noChangeShapeType="1" noTextEdit="1"/>
          </p:cNvSpPr>
          <p:nvPr/>
        </p:nvSpPr>
        <p:spPr>
          <a:xfrm rot="10800000" flipH="1">
            <a:off x="0" y="6400799"/>
            <a:ext cx="9144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0" name="Rectangle 37"/>
          <p:cNvSpPr>
            <a:spLocks noGrp="1" noRot="1" noChangeAspect="1" noMove="1" noResize="1" noEditPoints="1" noAdjustHandles="1" noChangeArrowheads="1" noChangeShapeType="1" noTextEdit="1"/>
          </p:cNvSpPr>
          <p:nvPr/>
        </p:nvSpPr>
        <p:spPr>
          <a:xfrm flipH="1">
            <a:off x="3028950" y="6400799"/>
            <a:ext cx="611504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1" name="Slide Number Placeholder 1"/>
          <p:cNvSpPr>
            <a:spLocks noGrp="1"/>
          </p:cNvSpPr>
          <p:nvPr>
            <p:ph type="sldNum" sz="quarter" idx="12"/>
          </p:nvPr>
        </p:nvSpPr>
        <p:spPr>
          <a:xfrm>
            <a:off x="8778240" y="6455664"/>
            <a:ext cx="336042" cy="365125"/>
          </a:xfrm>
        </p:spPr>
        <p:txBody>
          <a:bodyPr vert="horz" lIns="91440" tIns="45720" rIns="91440" bIns="45720" rtlCol="0" anchor="ctr">
            <a:normAutofit/>
          </a:bodyPr>
          <a:lstStyle/>
          <a:p>
            <a:pPr defTabSz="914400">
              <a:spcAft>
                <a:spcPts val="600"/>
              </a:spcAft>
            </a:pPr>
            <a:fld id="{C1FF6DA9-008F-8B48-92A6-B652298478BF}" type="slidenum">
              <a:rPr lang="en-US" sz="1000">
                <a:solidFill>
                  <a:srgbClr val="FFFFFF"/>
                </a:solidFill>
              </a:rPr>
              <a:pPr defTabSz="914400">
                <a:spcAft>
                  <a:spcPts val="600"/>
                </a:spcAft>
              </a:pPr>
              <a:t>10</a:t>
            </a:fld>
            <a:endParaRPr lang="en-US" sz="1000" dirty="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AD46FD-0397-66A1-1338-8FD9AF42F024}"/>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C6DDCC95-7B52-1A26-31AC-6239DAB2B25B}"/>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5F92E846-EEE1-04C5-F02C-A3F33498CFD8}"/>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3D8306C6-DA16-CDDD-EEE7-84992EE8CEA3}"/>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73F46901-3AAB-1A01-3E0B-7F4F7CC09885}"/>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EE37ACB3-EEF6-7364-4C5C-DDD18B9FD78A}"/>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C63A6C21-FD5F-E561-70E9-F687E674E6C7}"/>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Hardware Requirements</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5B7D8A1A-1F27-0649-39B7-D1FA18E079F9}"/>
              </a:ext>
            </a:extLst>
          </p:cNvPr>
          <p:cNvSpPr>
            <a:spLocks noGrp="1"/>
          </p:cNvSpPr>
          <p:nvPr>
            <p:ph idx="1"/>
          </p:nvPr>
        </p:nvSpPr>
        <p:spPr>
          <a:xfrm>
            <a:off x="354953" y="2030022"/>
            <a:ext cx="8068334" cy="4533440"/>
          </a:xfrm>
        </p:spPr>
        <p:txBody>
          <a:bodyPr vert="horz" lIns="91440" tIns="45720" rIns="91440" bIns="45720" rtlCol="0" anchor="ctr">
            <a:normAutofit/>
          </a:bodyPr>
          <a:lstStyle/>
          <a:p>
            <a:pPr algn="just"/>
            <a:r>
              <a:rPr lang="en-US" sz="2000" dirty="0">
                <a:latin typeface="Times New Roman"/>
                <a:ea typeface="+mn-lt"/>
                <a:cs typeface="Times New Roman"/>
              </a:rPr>
              <a:t>ESP8266 Microcontroller </a:t>
            </a:r>
          </a:p>
          <a:p>
            <a:pPr algn="just"/>
            <a:r>
              <a:rPr lang="en-US" sz="2000" dirty="0">
                <a:latin typeface="Times New Roman"/>
                <a:ea typeface="+mn-lt"/>
                <a:cs typeface="Times New Roman"/>
              </a:rPr>
              <a:t>16×2 LCD Display (I2C Module)</a:t>
            </a:r>
          </a:p>
          <a:p>
            <a:pPr algn="just"/>
            <a:r>
              <a:rPr lang="en-US" sz="2000" dirty="0">
                <a:latin typeface="Times New Roman"/>
                <a:ea typeface="+mn-lt"/>
                <a:cs typeface="Times New Roman"/>
              </a:rPr>
              <a:t> Wi-Fi Internet Connection</a:t>
            </a:r>
          </a:p>
          <a:p>
            <a:pPr algn="just"/>
            <a:r>
              <a:rPr lang="en-US" sz="2000" dirty="0">
                <a:latin typeface="Times New Roman"/>
                <a:ea typeface="+mn-lt"/>
                <a:cs typeface="Times New Roman"/>
              </a:rPr>
              <a:t> Jumper Wires </a:t>
            </a:r>
          </a:p>
          <a:p>
            <a:pPr algn="just"/>
            <a:r>
              <a:rPr lang="en-US" sz="2000" dirty="0">
                <a:latin typeface="Times New Roman"/>
                <a:ea typeface="+mn-lt"/>
                <a:cs typeface="Times New Roman"/>
              </a:rPr>
              <a:t>USB Cable / Power Adapter </a:t>
            </a:r>
          </a:p>
          <a:p>
            <a:pPr algn="just"/>
            <a:r>
              <a:rPr lang="en-US" sz="2000" dirty="0">
                <a:latin typeface="Times New Roman"/>
                <a:ea typeface="+mn-lt"/>
                <a:cs typeface="Times New Roman"/>
              </a:rPr>
              <a:t>Computer/Laptop for programming.</a:t>
            </a: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889E092E-03E1-9D76-B479-38000199532B}"/>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11</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241972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6832B4A-3D19-F563-FEBE-55EB755242B8}"/>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49A62A00-A651-BA73-CC87-374448C6D14D}"/>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CE24895E-574D-2DDD-56D1-034BE6D1E6F1}"/>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3CD648ED-DECB-0063-DE01-83B75E2D66E8}"/>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39D93D0F-2370-326D-B646-1F0CF1429C00}"/>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BFB7659E-D0D8-439F-6C97-E2006235856E}"/>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24CFA577-E140-D4CC-F3CC-44EB6C43F663}"/>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Software Requirements</a:t>
            </a:r>
            <a:endParaRPr lang="en-US" sz="3600" b="1" dirty="0">
              <a:solidFill>
                <a:srgbClr val="FFFFFF"/>
              </a:solidFill>
              <a:latin typeface="Times New Roman"/>
              <a:cs typeface="Times New Roman"/>
            </a:endParaRPr>
          </a:p>
        </p:txBody>
      </p:sp>
      <p:sp>
        <p:nvSpPr>
          <p:cNvPr id="1048621" name="Content Placeholder 2">
            <a:extLst>
              <a:ext uri="{FF2B5EF4-FFF2-40B4-BE49-F238E27FC236}">
                <a16:creationId xmlns:a16="http://schemas.microsoft.com/office/drawing/2014/main" id="{C2DC6421-D9AD-2B8D-D7E5-088CBD39D91B}"/>
              </a:ext>
            </a:extLst>
          </p:cNvPr>
          <p:cNvSpPr>
            <a:spLocks noGrp="1"/>
          </p:cNvSpPr>
          <p:nvPr>
            <p:ph idx="1"/>
          </p:nvPr>
        </p:nvSpPr>
        <p:spPr>
          <a:xfrm>
            <a:off x="382328" y="1622744"/>
            <a:ext cx="8068334" cy="5235255"/>
          </a:xfrm>
        </p:spPr>
        <p:txBody>
          <a:bodyPr vert="horz" lIns="91440" tIns="45720" rIns="91440" bIns="45720" rtlCol="0" anchor="ctr">
            <a:normAutofit/>
          </a:bodyPr>
          <a:lstStyle/>
          <a:p>
            <a:pPr algn="just"/>
            <a:r>
              <a:rPr lang="en-US" sz="2200" dirty="0">
                <a:latin typeface="Times New Roman"/>
                <a:ea typeface="+mn-lt"/>
                <a:cs typeface="Times New Roman"/>
              </a:rPr>
              <a:t>Arduino IDE (for ESP programming)</a:t>
            </a:r>
          </a:p>
          <a:p>
            <a:pPr algn="just"/>
            <a:r>
              <a:rPr lang="en-US" sz="2200" dirty="0">
                <a:latin typeface="Times New Roman"/>
                <a:ea typeface="+mn-lt"/>
                <a:cs typeface="Times New Roman"/>
              </a:rPr>
              <a:t>Firebase / Cloud Database</a:t>
            </a:r>
          </a:p>
          <a:p>
            <a:pPr algn="just"/>
            <a:r>
              <a:rPr lang="en-US" sz="2200" dirty="0">
                <a:latin typeface="Times New Roman"/>
                <a:ea typeface="+mn-lt"/>
                <a:cs typeface="Times New Roman"/>
              </a:rPr>
              <a:t>Embedded C / Arduino Programming Language </a:t>
            </a:r>
          </a:p>
          <a:p>
            <a:pPr algn="just"/>
            <a:r>
              <a:rPr lang="en-US" sz="2200" dirty="0">
                <a:latin typeface="Times New Roman"/>
                <a:ea typeface="+mn-lt"/>
                <a:cs typeface="Times New Roman"/>
              </a:rPr>
              <a:t>HTML ,CSS ,JavaScript (Frontend Interface)</a:t>
            </a:r>
          </a:p>
          <a:p>
            <a:pPr algn="just"/>
            <a:r>
              <a:rPr lang="en-US" sz="2200" dirty="0">
                <a:latin typeface="Times New Roman"/>
                <a:ea typeface="+mn-lt"/>
                <a:cs typeface="Times New Roman"/>
              </a:rPr>
              <a:t>Web Browser (Chrome/Edge/Firefox)</a:t>
            </a:r>
            <a:endParaRPr lang="en-US" sz="2200" dirty="0">
              <a:latin typeface="Times New Roman"/>
              <a:ea typeface="Calibri"/>
              <a:cs typeface="Times New Roman"/>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2" name="Slide Number Placeholder 3">
            <a:extLst>
              <a:ext uri="{FF2B5EF4-FFF2-40B4-BE49-F238E27FC236}">
                <a16:creationId xmlns:a16="http://schemas.microsoft.com/office/drawing/2014/main" id="{56770A64-988A-D1F2-06B6-986E4A41303E}"/>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12</a:t>
            </a:fld>
            <a:endParaRPr lang="en-US" sz="1000" dirty="0">
              <a:solidFill>
                <a:schemeClr val="tx1">
                  <a:lumMod val="50000"/>
                  <a:lumOff val="50000"/>
                </a:schemeClr>
              </a:solidFill>
            </a:endParaRPr>
          </a:p>
        </p:txBody>
      </p:sp>
    </p:spTree>
    <p:extLst>
      <p:ext uri="{BB962C8B-B14F-4D97-AF65-F5344CB8AC3E}">
        <p14:creationId xmlns:p14="http://schemas.microsoft.com/office/powerpoint/2010/main" val="3720327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70" name="Rectangle 30"/>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2" name="Rectangle 32"/>
          <p:cNvSpPr>
            <a:spLocks noGrp="1" noRot="1" noChangeAspect="1" noMove="1" noResize="1" noEditPoints="1" noAdjustHandles="1" noChangeArrowheads="1" noChangeShapeType="1" noTextEdit="1"/>
          </p:cNvSpPr>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4" name="Title 1"/>
          <p:cNvSpPr>
            <a:spLocks noGrp="1"/>
          </p:cNvSpPr>
          <p:nvPr>
            <p:ph type="title"/>
          </p:nvPr>
        </p:nvSpPr>
        <p:spPr>
          <a:xfrm>
            <a:off x="457200" y="274638"/>
            <a:ext cx="8229600" cy="1143000"/>
          </a:xfrm>
        </p:spPr>
        <p:txBody>
          <a:bodyPr/>
          <a:lstStyle/>
          <a:p>
            <a:r>
              <a:rPr lang="en-US" dirty="0">
                <a:ea typeface="Calibri"/>
                <a:cs typeface="Calibri"/>
              </a:rPr>
              <a:t>System Architecture</a:t>
            </a:r>
            <a:endParaRPr lang="en-US" dirty="0"/>
          </a:p>
        </p:txBody>
      </p:sp>
      <p:sp>
        <p:nvSpPr>
          <p:cNvPr id="1048675" name="Content Placeholder 2"/>
          <p:cNvSpPr txBox="1"/>
          <p:nvPr/>
        </p:nvSpPr>
        <p:spPr>
          <a:xfrm>
            <a:off x="457200" y="1600200"/>
            <a:ext cx="8229600" cy="4525963"/>
          </a:xfrm>
          <a:prstGeom prst="rect">
            <a:avLst/>
          </a:prstGeom>
        </p:spPr>
        <p:txBody>
          <a:bodyPr vert="horz" lIns="91440" tIns="45720" rIns="91440" bIns="45720" rtlCol="0" anchor="t">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dirty="0">
                <a:ea typeface="Calibri"/>
                <a:cs typeface="Calibri"/>
              </a:rPr>
              <a:t>/REST</a:t>
            </a:r>
            <a:endParaRPr lang="en-US" dirty="0"/>
          </a:p>
        </p:txBody>
      </p:sp>
      <p:sp>
        <p:nvSpPr>
          <p:cNvPr id="1048676" name="Slide Number Placeholder 3"/>
          <p:cNvSpPr txBox="1"/>
          <p:nvPr/>
        </p:nvSpPr>
        <p:spPr>
          <a:xfrm>
            <a:off x="6553200" y="6356350"/>
            <a:ext cx="2133600" cy="365125"/>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C1FF6DA9-008F-8B48-92A6-B652298478BF}" type="slidenum">
              <a:rPr lang="en-US" smtClean="0"/>
              <a:t>13</a:t>
            </a:fld>
            <a:endParaRPr lang="en-US" dirty="0"/>
          </a:p>
        </p:txBody>
      </p:sp>
      <p:sp>
        <p:nvSpPr>
          <p:cNvPr id="1048677" name="Rectangle 18"/>
          <p:cNvSpPr/>
          <p:nvPr/>
        </p:nvSpPr>
        <p:spPr>
          <a:xfrm>
            <a:off x="556405" y="1537659"/>
            <a:ext cx="3265096" cy="946749"/>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48678" name="TextBox 21"/>
          <p:cNvSpPr txBox="1"/>
          <p:nvPr/>
        </p:nvSpPr>
        <p:spPr>
          <a:xfrm>
            <a:off x="1034585" y="1544173"/>
            <a:ext cx="292658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Staff/Faculty</a:t>
            </a:r>
          </a:p>
          <a:p>
            <a:r>
              <a:rPr lang="en-US" dirty="0">
                <a:ea typeface="Calibri"/>
                <a:cs typeface="Calibri"/>
              </a:rPr>
              <a:t>Web Page</a:t>
            </a:r>
          </a:p>
          <a:p>
            <a:r>
              <a:rPr lang="en-US" dirty="0">
                <a:ea typeface="Calibri"/>
                <a:cs typeface="Calibri"/>
              </a:rPr>
              <a:t>(Add, Update, Delete)</a:t>
            </a:r>
          </a:p>
        </p:txBody>
      </p:sp>
      <p:sp>
        <p:nvSpPr>
          <p:cNvPr id="1048679" name="Rectangle 25"/>
          <p:cNvSpPr/>
          <p:nvPr/>
        </p:nvSpPr>
        <p:spPr>
          <a:xfrm>
            <a:off x="5578596" y="1416350"/>
            <a:ext cx="2920041" cy="105457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ea typeface="Calibri"/>
              <a:cs typeface="Calibri"/>
            </a:endParaRPr>
          </a:p>
        </p:txBody>
      </p:sp>
      <p:sp>
        <p:nvSpPr>
          <p:cNvPr id="1048680" name="Rectangle 29"/>
          <p:cNvSpPr/>
          <p:nvPr/>
        </p:nvSpPr>
        <p:spPr>
          <a:xfrm>
            <a:off x="556405" y="4858828"/>
            <a:ext cx="3448408" cy="935966"/>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rtl="0"/>
            <a:endParaRPr lang="en-US" dirty="0">
              <a:cs typeface="Segoe UI"/>
            </a:endParaRPr>
          </a:p>
        </p:txBody>
      </p:sp>
      <p:sp>
        <p:nvSpPr>
          <p:cNvPr id="1048681" name="Rectangle 34"/>
          <p:cNvSpPr/>
          <p:nvPr/>
        </p:nvSpPr>
        <p:spPr>
          <a:xfrm>
            <a:off x="505185" y="3330337"/>
            <a:ext cx="3448407" cy="882051"/>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48682" name="Rectangle 36"/>
          <p:cNvSpPr/>
          <p:nvPr/>
        </p:nvSpPr>
        <p:spPr>
          <a:xfrm>
            <a:off x="4993618" y="4357419"/>
            <a:ext cx="2521069" cy="65560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48683" name="TextBox 38"/>
          <p:cNvSpPr txBox="1"/>
          <p:nvPr/>
        </p:nvSpPr>
        <p:spPr>
          <a:xfrm>
            <a:off x="616562" y="4856614"/>
            <a:ext cx="3447954"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 ESP8266 / ESP32 | Wi-Fi Client+   Controller </a:t>
            </a:r>
          </a:p>
          <a:p>
            <a:r>
              <a:rPr lang="en-US" dirty="0">
                <a:ea typeface="Calibri"/>
                <a:cs typeface="Calibri"/>
              </a:rPr>
              <a:t>(Fetch latest notice)</a:t>
            </a:r>
          </a:p>
          <a:p>
            <a:endParaRPr lang="en-US" dirty="0">
              <a:ea typeface="Calibri"/>
              <a:cs typeface="Calibri"/>
            </a:endParaRPr>
          </a:p>
          <a:p>
            <a:endParaRPr lang="en-US" dirty="0">
              <a:ea typeface="Calibri"/>
              <a:cs typeface="Calibri"/>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ea typeface="+mn-lt"/>
              <a:cs typeface="+mn-lt"/>
            </a:endParaRPr>
          </a:p>
          <a:p>
            <a:endParaRPr lang="en-US" dirty="0"/>
          </a:p>
        </p:txBody>
      </p:sp>
      <p:sp>
        <p:nvSpPr>
          <p:cNvPr id="1048684" name="TextBox 40"/>
          <p:cNvSpPr txBox="1"/>
          <p:nvPr/>
        </p:nvSpPr>
        <p:spPr>
          <a:xfrm>
            <a:off x="689530" y="3318583"/>
            <a:ext cx="36255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Cloud  database; Firebase</a:t>
            </a:r>
            <a:endParaRPr lang="en-US" dirty="0"/>
          </a:p>
          <a:p>
            <a:r>
              <a:rPr lang="en-US" dirty="0">
                <a:ea typeface="Calibri"/>
                <a:cs typeface="Calibri"/>
              </a:rPr>
              <a:t>   (Stores latest notices)</a:t>
            </a:r>
          </a:p>
        </p:txBody>
      </p:sp>
      <p:sp>
        <p:nvSpPr>
          <p:cNvPr id="1048685" name="TextBox 42"/>
          <p:cNvSpPr txBox="1"/>
          <p:nvPr/>
        </p:nvSpPr>
        <p:spPr>
          <a:xfrm>
            <a:off x="4964902" y="4367523"/>
            <a:ext cx="3508667"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16x2 LCD Display (I2C)</a:t>
            </a:r>
          </a:p>
          <a:p>
            <a:r>
              <a:rPr lang="en-US" dirty="0">
                <a:ea typeface="Calibri"/>
                <a:cs typeface="Calibri"/>
              </a:rPr>
              <a:t>(Notice Display + Scrolling)</a:t>
            </a:r>
          </a:p>
        </p:txBody>
      </p:sp>
      <p:sp>
        <p:nvSpPr>
          <p:cNvPr id="1048686" name="TextBox 44"/>
          <p:cNvSpPr txBox="1"/>
          <p:nvPr/>
        </p:nvSpPr>
        <p:spPr>
          <a:xfrm>
            <a:off x="5748694" y="1594550"/>
            <a:ext cx="261425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dirty="0">
                <a:ea typeface="Calibri"/>
                <a:cs typeface="Calibri"/>
              </a:rPr>
              <a:t>WI-FI(HTTPS/REST)</a:t>
            </a:r>
          </a:p>
        </p:txBody>
      </p:sp>
      <p:cxnSp>
        <p:nvCxnSpPr>
          <p:cNvPr id="3145729" name="Straight Arrow Connector 46"/>
          <p:cNvCxnSpPr>
            <a:cxnSpLocks/>
          </p:cNvCxnSpPr>
          <p:nvPr/>
        </p:nvCxnSpPr>
        <p:spPr>
          <a:xfrm flipH="1">
            <a:off x="1650879" y="4215920"/>
            <a:ext cx="10033" cy="6761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45730" name="Straight Arrow Connector 48"/>
          <p:cNvCxnSpPr>
            <a:cxnSpLocks/>
          </p:cNvCxnSpPr>
          <p:nvPr/>
        </p:nvCxnSpPr>
        <p:spPr>
          <a:xfrm flipH="1">
            <a:off x="1623688" y="2510967"/>
            <a:ext cx="11414" cy="79281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145731" name="Straight Arrow Connector 52"/>
          <p:cNvCxnSpPr>
            <a:cxnSpLocks/>
          </p:cNvCxnSpPr>
          <p:nvPr/>
        </p:nvCxnSpPr>
        <p:spPr>
          <a:xfrm flipH="1" flipV="1">
            <a:off x="7131888" y="2473623"/>
            <a:ext cx="12939" cy="18784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48687" name="TextBox 54"/>
          <p:cNvSpPr txBox="1"/>
          <p:nvPr/>
        </p:nvSpPr>
        <p:spPr>
          <a:xfrm>
            <a:off x="1677838" y="2602021"/>
            <a:ext cx="29265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Internet (Wi-Fi/Mobile data)</a:t>
            </a:r>
          </a:p>
        </p:txBody>
      </p:sp>
      <p:sp>
        <p:nvSpPr>
          <p:cNvPr id="1048688" name="TextBox 56"/>
          <p:cNvSpPr txBox="1"/>
          <p:nvPr/>
        </p:nvSpPr>
        <p:spPr>
          <a:xfrm>
            <a:off x="1837431" y="4348728"/>
            <a:ext cx="308551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WIFI Request (HTTP)</a:t>
            </a:r>
          </a:p>
        </p:txBody>
      </p:sp>
      <p:sp>
        <p:nvSpPr>
          <p:cNvPr id="1048689" name="TextBox 58"/>
          <p:cNvSpPr txBox="1"/>
          <p:nvPr/>
        </p:nvSpPr>
        <p:spPr>
          <a:xfrm>
            <a:off x="4079159" y="5531880"/>
            <a:ext cx="23458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I2C Communication</a:t>
            </a:r>
            <a:endParaRPr lang="en-US" dirty="0"/>
          </a:p>
        </p:txBody>
      </p:sp>
      <p:cxnSp>
        <p:nvCxnSpPr>
          <p:cNvPr id="3145732" name="Connector: Elbow 59"/>
          <p:cNvCxnSpPr>
            <a:cxnSpLocks/>
          </p:cNvCxnSpPr>
          <p:nvPr/>
        </p:nvCxnSpPr>
        <p:spPr>
          <a:xfrm flipV="1">
            <a:off x="4028936" y="4772019"/>
            <a:ext cx="935966" cy="649136"/>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3"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4"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dirty="0">
                <a:solidFill>
                  <a:schemeClr val="bg1"/>
                </a:solidFill>
                <a:latin typeface="Times New Roman"/>
                <a:cs typeface="Times New Roman"/>
              </a:rPr>
              <a:t>Activity</a:t>
            </a:r>
            <a:r>
              <a:rPr lang="en-US" sz="2800" kern="1200" dirty="0">
                <a:solidFill>
                  <a:schemeClr val="bg1"/>
                </a:solidFill>
                <a:latin typeface="Times New Roman"/>
                <a:cs typeface="Times New Roman"/>
              </a:rPr>
              <a:t> Diagram</a:t>
            </a:r>
          </a:p>
        </p:txBody>
      </p:sp>
      <p:sp>
        <p:nvSpPr>
          <p:cNvPr id="1048705"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14</a:t>
            </a:fld>
            <a:endParaRPr lang="en-US" dirty="0"/>
          </a:p>
        </p:txBody>
      </p:sp>
      <p:pic>
        <p:nvPicPr>
          <p:cNvPr id="2" name="Content Placeholder 5" descr="A diagram of a system  AI-generated content may be incorrect.">
            <a:extLst>
              <a:ext uri="{FF2B5EF4-FFF2-40B4-BE49-F238E27FC236}">
                <a16:creationId xmlns:a16="http://schemas.microsoft.com/office/drawing/2014/main" id="{D31C323E-F2FC-AFB5-A1A1-955BEB55B0C8}"/>
              </a:ext>
            </a:extLst>
          </p:cNvPr>
          <p:cNvPicPr>
            <a:picLocks noGrp="1" noChangeAspect="1"/>
          </p:cNvPicPr>
          <p:nvPr>
            <p:ph idx="1"/>
          </p:nvPr>
        </p:nvPicPr>
        <p:blipFill>
          <a:blip r:embed="rId2"/>
          <a:srcRect t="4505" r="-175" b="-225"/>
          <a:stretch>
            <a:fillRect/>
          </a:stretch>
        </p:blipFill>
        <p:spPr>
          <a:xfrm>
            <a:off x="1337131" y="1425359"/>
            <a:ext cx="6017883" cy="52961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60F252C-B064-B50A-B6B2-33F4591CCD1B}"/>
            </a:ext>
          </a:extLst>
        </p:cNvPr>
        <p:cNvGrpSpPr/>
        <p:nvPr/>
      </p:nvGrpSpPr>
      <p:grpSpPr>
        <a:xfrm>
          <a:off x="0" y="0"/>
          <a:ext cx="0" cy="0"/>
          <a:chOff x="0" y="0"/>
          <a:chExt cx="0" cy="0"/>
        </a:xfrm>
      </p:grpSpPr>
      <p:sp>
        <p:nvSpPr>
          <p:cNvPr id="1048703" name="Rectangle 1048655">
            <a:extLst>
              <a:ext uri="{FF2B5EF4-FFF2-40B4-BE49-F238E27FC236}">
                <a16:creationId xmlns:a16="http://schemas.microsoft.com/office/drawing/2014/main" id="{F5AA6854-EE3E-B375-26A6-4B98111718D0}"/>
              </a:ext>
            </a:extLst>
          </p:cNvPr>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4" name="Title 1">
            <a:extLst>
              <a:ext uri="{FF2B5EF4-FFF2-40B4-BE49-F238E27FC236}">
                <a16:creationId xmlns:a16="http://schemas.microsoft.com/office/drawing/2014/main" id="{4BBA1E7C-68FE-D5D6-CF1D-C48210347F6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kern="1200" dirty="0">
                <a:solidFill>
                  <a:schemeClr val="bg1"/>
                </a:solidFill>
                <a:latin typeface="Times New Roman"/>
                <a:cs typeface="Times New Roman"/>
              </a:rPr>
              <a:t>Class Diagram</a:t>
            </a:r>
          </a:p>
        </p:txBody>
      </p:sp>
      <p:sp>
        <p:nvSpPr>
          <p:cNvPr id="1048705" name="Slide Number Placeholder 4">
            <a:extLst>
              <a:ext uri="{FF2B5EF4-FFF2-40B4-BE49-F238E27FC236}">
                <a16:creationId xmlns:a16="http://schemas.microsoft.com/office/drawing/2014/main" id="{60AD91A6-EA7C-4977-63E0-31B0F0B6057C}"/>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15</a:t>
            </a:fld>
            <a:endParaRPr lang="en-US" dirty="0"/>
          </a:p>
        </p:txBody>
      </p:sp>
      <p:pic>
        <p:nvPicPr>
          <p:cNvPr id="5" name="Picture 1" descr="A diagram of a program  ">
            <a:extLst>
              <a:ext uri="{FF2B5EF4-FFF2-40B4-BE49-F238E27FC236}">
                <a16:creationId xmlns:a16="http://schemas.microsoft.com/office/drawing/2014/main" id="{AD16A6CE-9F9E-1FBC-E844-F752C48C6A4C}"/>
              </a:ext>
            </a:extLst>
          </p:cNvPr>
          <p:cNvPicPr>
            <a:picLocks noGrp="1" noChangeAspect="1"/>
          </p:cNvPicPr>
          <p:nvPr>
            <p:ph idx="1"/>
          </p:nvPr>
        </p:nvPicPr>
        <p:blipFill>
          <a:blip r:embed="rId2"/>
          <a:srcRect t="4994" r="-394" b="324"/>
          <a:stretch>
            <a:fillRect/>
          </a:stretch>
        </p:blipFill>
        <p:spPr>
          <a:xfrm>
            <a:off x="457200" y="1696598"/>
            <a:ext cx="8229600" cy="4659752"/>
          </a:xfrm>
          <a:prstGeom prst="rect">
            <a:avLst/>
          </a:prstGeom>
        </p:spPr>
      </p:pic>
    </p:spTree>
    <p:extLst>
      <p:ext uri="{BB962C8B-B14F-4D97-AF65-F5344CB8AC3E}">
        <p14:creationId xmlns:p14="http://schemas.microsoft.com/office/powerpoint/2010/main" val="32743968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CAF08B1-9336-02DF-F14A-4E48E9FCC498}"/>
            </a:ext>
          </a:extLst>
        </p:cNvPr>
        <p:cNvGrpSpPr/>
        <p:nvPr/>
      </p:nvGrpSpPr>
      <p:grpSpPr>
        <a:xfrm>
          <a:off x="0" y="0"/>
          <a:ext cx="0" cy="0"/>
          <a:chOff x="0" y="0"/>
          <a:chExt cx="0" cy="0"/>
        </a:xfrm>
      </p:grpSpPr>
      <p:sp>
        <p:nvSpPr>
          <p:cNvPr id="1048703" name="Rectangle 1048655">
            <a:extLst>
              <a:ext uri="{FF2B5EF4-FFF2-40B4-BE49-F238E27FC236}">
                <a16:creationId xmlns:a16="http://schemas.microsoft.com/office/drawing/2014/main" id="{3CAAE8A2-B626-6098-E525-764AA0D1BFB0}"/>
              </a:ext>
            </a:extLst>
          </p:cNvPr>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4" name="Title 1">
            <a:extLst>
              <a:ext uri="{FF2B5EF4-FFF2-40B4-BE49-F238E27FC236}">
                <a16:creationId xmlns:a16="http://schemas.microsoft.com/office/drawing/2014/main" id="{3B5A0319-18F1-DAA2-DD02-6C6771CF8D18}"/>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kern="1200" dirty="0">
                <a:solidFill>
                  <a:schemeClr val="bg1"/>
                </a:solidFill>
                <a:latin typeface="Times New Roman"/>
                <a:cs typeface="Times New Roman"/>
              </a:rPr>
              <a:t>Use Case Diagram</a:t>
            </a:r>
          </a:p>
        </p:txBody>
      </p:sp>
      <p:pic>
        <p:nvPicPr>
          <p:cNvPr id="2097154" name="Picture 14" descr="A diagram of a device  AI-generated content may be incorrect.">
            <a:extLst>
              <a:ext uri="{FF2B5EF4-FFF2-40B4-BE49-F238E27FC236}">
                <a16:creationId xmlns:a16="http://schemas.microsoft.com/office/drawing/2014/main" id="{FCB89584-2560-09DA-131E-AAD87CC3C240}"/>
              </a:ext>
            </a:extLst>
          </p:cNvPr>
          <p:cNvPicPr>
            <a:picLocks noChangeAspect="1"/>
          </p:cNvPicPr>
          <p:nvPr/>
        </p:nvPicPr>
        <p:blipFill>
          <a:blip r:embed="rId2"/>
          <a:srcRect t="10684" r="-2219" b="-214"/>
          <a:stretch>
            <a:fillRect/>
          </a:stretch>
        </p:blipFill>
        <p:spPr>
          <a:xfrm>
            <a:off x="209923" y="1574792"/>
            <a:ext cx="8825296" cy="4976179"/>
          </a:xfrm>
          <a:prstGeom prst="rect">
            <a:avLst/>
          </a:prstGeom>
        </p:spPr>
      </p:pic>
      <p:sp>
        <p:nvSpPr>
          <p:cNvPr id="1048705" name="Slide Number Placeholder 4">
            <a:extLst>
              <a:ext uri="{FF2B5EF4-FFF2-40B4-BE49-F238E27FC236}">
                <a16:creationId xmlns:a16="http://schemas.microsoft.com/office/drawing/2014/main" id="{BB06D421-8847-4305-C5D6-6BE2B63D63D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16</a:t>
            </a:fld>
            <a:endParaRPr lang="en-US" dirty="0"/>
          </a:p>
        </p:txBody>
      </p:sp>
    </p:spTree>
    <p:extLst>
      <p:ext uri="{BB962C8B-B14F-4D97-AF65-F5344CB8AC3E}">
        <p14:creationId xmlns:p14="http://schemas.microsoft.com/office/powerpoint/2010/main" val="37285696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2C7433-B335-5EE6-51D8-363B99C25C1A}"/>
            </a:ext>
          </a:extLst>
        </p:cNvPr>
        <p:cNvGrpSpPr/>
        <p:nvPr/>
      </p:nvGrpSpPr>
      <p:grpSpPr>
        <a:xfrm>
          <a:off x="0" y="0"/>
          <a:ext cx="0" cy="0"/>
          <a:chOff x="0" y="0"/>
          <a:chExt cx="0" cy="0"/>
        </a:xfrm>
      </p:grpSpPr>
      <p:sp>
        <p:nvSpPr>
          <p:cNvPr id="1048703" name="Rectangle 1048655">
            <a:extLst>
              <a:ext uri="{FF2B5EF4-FFF2-40B4-BE49-F238E27FC236}">
                <a16:creationId xmlns:a16="http://schemas.microsoft.com/office/drawing/2014/main" id="{DCCF344F-095E-A932-17F2-F284B3A448AA}"/>
              </a:ext>
            </a:extLst>
          </p:cNvPr>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4" name="Title 1">
            <a:extLst>
              <a:ext uri="{FF2B5EF4-FFF2-40B4-BE49-F238E27FC236}">
                <a16:creationId xmlns:a16="http://schemas.microsoft.com/office/drawing/2014/main" id="{B05C40F0-4EAF-3DDC-2FB0-6CF6ACD83E2D}"/>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b="1" dirty="0">
                <a:solidFill>
                  <a:srgbClr val="FFFFFF"/>
                </a:solidFill>
                <a:latin typeface="Times New Roman"/>
                <a:cs typeface="Times New Roman"/>
              </a:rPr>
              <a:t>State Diagram</a:t>
            </a:r>
            <a:endParaRPr lang="en-US" sz="2800" kern="1200" dirty="0">
              <a:solidFill>
                <a:schemeClr val="bg1"/>
              </a:solidFill>
              <a:latin typeface="Times New Roman"/>
              <a:cs typeface="Times New Roman"/>
            </a:endParaRPr>
          </a:p>
        </p:txBody>
      </p:sp>
      <p:sp>
        <p:nvSpPr>
          <p:cNvPr id="1048705" name="Slide Number Placeholder 4">
            <a:extLst>
              <a:ext uri="{FF2B5EF4-FFF2-40B4-BE49-F238E27FC236}">
                <a16:creationId xmlns:a16="http://schemas.microsoft.com/office/drawing/2014/main" id="{A148C356-5768-16BD-3700-B5D193FA8FA9}"/>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17</a:t>
            </a:fld>
            <a:endParaRPr lang="en-US" dirty="0"/>
          </a:p>
        </p:txBody>
      </p:sp>
      <p:pic>
        <p:nvPicPr>
          <p:cNvPr id="2" name="Content Placeholder 2" descr="A diagram of a state diagram  AI-generated content may be incorrect.">
            <a:extLst>
              <a:ext uri="{FF2B5EF4-FFF2-40B4-BE49-F238E27FC236}">
                <a16:creationId xmlns:a16="http://schemas.microsoft.com/office/drawing/2014/main" id="{B8B809F5-53CE-A7BF-E312-9424F1FB579A}"/>
              </a:ext>
            </a:extLst>
          </p:cNvPr>
          <p:cNvPicPr>
            <a:picLocks noGrp="1" noChangeAspect="1"/>
          </p:cNvPicPr>
          <p:nvPr>
            <p:ph idx="1"/>
          </p:nvPr>
        </p:nvPicPr>
        <p:blipFill>
          <a:blip r:embed="rId2"/>
          <a:srcRect t="6723" r="150"/>
          <a:stretch>
            <a:fillRect/>
          </a:stretch>
        </p:blipFill>
        <p:spPr>
          <a:xfrm>
            <a:off x="2152733" y="1651098"/>
            <a:ext cx="5214174" cy="4887814"/>
          </a:xfrm>
          <a:prstGeom prst="rect">
            <a:avLst/>
          </a:prstGeom>
        </p:spPr>
      </p:pic>
    </p:spTree>
    <p:extLst>
      <p:ext uri="{BB962C8B-B14F-4D97-AF65-F5344CB8AC3E}">
        <p14:creationId xmlns:p14="http://schemas.microsoft.com/office/powerpoint/2010/main" val="18825966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09" name="Rectangle 1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0"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pPr>
            <a:r>
              <a:rPr lang="en-US" sz="2800" b="1" kern="1200" dirty="0">
                <a:solidFill>
                  <a:schemeClr val="bg1"/>
                </a:solidFill>
                <a:latin typeface="Times New Roman"/>
                <a:cs typeface="Times New Roman"/>
              </a:rPr>
              <a:t>Component Diagram</a:t>
            </a:r>
            <a:endParaRPr lang="en-US" sz="2800" b="1" kern="1200" dirty="0">
              <a:solidFill>
                <a:schemeClr val="bg1"/>
              </a:solidFill>
              <a:latin typeface="Times New Roman"/>
              <a:ea typeface="Calibri"/>
              <a:cs typeface="Times New Roman"/>
            </a:endParaRPr>
          </a:p>
        </p:txBody>
      </p:sp>
      <p:pic>
        <p:nvPicPr>
          <p:cNvPr id="2097156" name="Content Placeholder 10" descr="Diagram of a diagram of a computer component  AI-generated content may be incorrect."/>
          <p:cNvPicPr>
            <a:picLocks noGrp="1" noChangeAspect="1"/>
          </p:cNvPicPr>
          <p:nvPr>
            <p:ph idx="1"/>
          </p:nvPr>
        </p:nvPicPr>
        <p:blipFill>
          <a:blip r:embed="rId2"/>
          <a:srcRect t="4964" r="146"/>
          <a:stretch>
            <a:fillRect/>
          </a:stretch>
        </p:blipFill>
        <p:spPr>
          <a:xfrm>
            <a:off x="621779" y="1571319"/>
            <a:ext cx="7723811" cy="4529340"/>
          </a:xfrm>
          <a:prstGeom prst="rect">
            <a:avLst/>
          </a:prstGeom>
        </p:spPr>
      </p:pic>
      <p:sp>
        <p:nvSpPr>
          <p:cNvPr id="1048711"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12" name="Rectangle 18"/>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3"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pPr>
            <a:r>
              <a:rPr lang="en-US" sz="2800" b="1" kern="1200" dirty="0">
                <a:solidFill>
                  <a:schemeClr val="bg1"/>
                </a:solidFill>
                <a:latin typeface="Times New Roman"/>
                <a:cs typeface="Times New Roman"/>
              </a:rPr>
              <a:t>Deployment Diagram</a:t>
            </a:r>
          </a:p>
        </p:txBody>
      </p:sp>
      <p:pic>
        <p:nvPicPr>
          <p:cNvPr id="2097157" name="Content Placeholder 13" descr="A diagram of a computer system  AI-generated content may be incorrect."/>
          <p:cNvPicPr>
            <a:picLocks noGrp="1" noChangeAspect="1"/>
          </p:cNvPicPr>
          <p:nvPr>
            <p:ph idx="1"/>
          </p:nvPr>
        </p:nvPicPr>
        <p:blipFill>
          <a:blip r:embed="rId2"/>
          <a:srcRect t="5208" r="-205"/>
          <a:stretch>
            <a:fillRect/>
          </a:stretch>
        </p:blipFill>
        <p:spPr>
          <a:xfrm>
            <a:off x="1240744" y="1392695"/>
            <a:ext cx="6365650" cy="5341318"/>
          </a:xfrm>
          <a:prstGeom prst="rect">
            <a:avLst/>
          </a:prstGeom>
        </p:spPr>
      </p:pic>
      <p:sp>
        <p:nvSpPr>
          <p:cNvPr id="1048714" name="Slide Number Placeholder 3"/>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09D30DF-C671-D77A-E418-5CFB19DE294E}"/>
            </a:ext>
          </a:extLst>
        </p:cNvPr>
        <p:cNvGrpSpPr/>
        <p:nvPr/>
      </p:nvGrpSpPr>
      <p:grpSpPr>
        <a:xfrm>
          <a:off x="0" y="0"/>
          <a:ext cx="0" cy="0"/>
          <a:chOff x="0" y="0"/>
          <a:chExt cx="0" cy="0"/>
        </a:xfrm>
      </p:grpSpPr>
      <p:sp>
        <p:nvSpPr>
          <p:cNvPr id="1048712" name="Rectangle 18">
            <a:extLst>
              <a:ext uri="{FF2B5EF4-FFF2-40B4-BE49-F238E27FC236}">
                <a16:creationId xmlns:a16="http://schemas.microsoft.com/office/drawing/2014/main" id="{CDDF3003-83B7-758F-421A-9E8516B55497}"/>
              </a:ext>
            </a:extLst>
          </p:cNvPr>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3" name="Title 1">
            <a:extLst>
              <a:ext uri="{FF2B5EF4-FFF2-40B4-BE49-F238E27FC236}">
                <a16:creationId xmlns:a16="http://schemas.microsoft.com/office/drawing/2014/main" id="{3E793EDB-648E-CB4B-6520-9DCAAB62F51E}"/>
              </a:ext>
            </a:extLst>
          </p:cNvPr>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pPr>
            <a:r>
              <a:rPr lang="en-US" sz="2800" b="1" dirty="0">
                <a:solidFill>
                  <a:schemeClr val="bg1"/>
                </a:solidFill>
                <a:latin typeface="Times New Roman"/>
                <a:cs typeface="Times New Roman"/>
              </a:rPr>
              <a:t>Object Diagram</a:t>
            </a:r>
            <a:endParaRPr lang="en-US" sz="2800" b="1" kern="1200" dirty="0">
              <a:solidFill>
                <a:schemeClr val="bg1"/>
              </a:solidFill>
              <a:latin typeface="Times New Roman"/>
              <a:cs typeface="Times New Roman"/>
            </a:endParaRPr>
          </a:p>
        </p:txBody>
      </p:sp>
      <p:sp>
        <p:nvSpPr>
          <p:cNvPr id="1048714" name="Slide Number Placeholder 3">
            <a:extLst>
              <a:ext uri="{FF2B5EF4-FFF2-40B4-BE49-F238E27FC236}">
                <a16:creationId xmlns:a16="http://schemas.microsoft.com/office/drawing/2014/main" id="{62F3369C-493C-5718-5C6B-07F3A0B5CF0E}"/>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20</a:t>
            </a:fld>
            <a:endParaRPr lang="en-US" dirty="0"/>
          </a:p>
        </p:txBody>
      </p:sp>
      <p:pic>
        <p:nvPicPr>
          <p:cNvPr id="4" name="Content Placeholder 34" descr="A diagram of a program  AI-generated content may be incorrect.">
            <a:extLst>
              <a:ext uri="{FF2B5EF4-FFF2-40B4-BE49-F238E27FC236}">
                <a16:creationId xmlns:a16="http://schemas.microsoft.com/office/drawing/2014/main" id="{25E72BEC-FBB5-6D3F-E12C-AB17C9465B74}"/>
              </a:ext>
            </a:extLst>
          </p:cNvPr>
          <p:cNvPicPr>
            <a:picLocks noGrp="1" noChangeAspect="1"/>
          </p:cNvPicPr>
          <p:nvPr>
            <p:ph idx="1"/>
          </p:nvPr>
        </p:nvPicPr>
        <p:blipFill>
          <a:blip r:embed="rId2"/>
          <a:srcRect t="8782"/>
          <a:stretch>
            <a:fillRect/>
          </a:stretch>
        </p:blipFill>
        <p:spPr>
          <a:xfrm>
            <a:off x="838201" y="1698172"/>
            <a:ext cx="7336970" cy="4397828"/>
          </a:xfrm>
          <a:prstGeom prst="rect">
            <a:avLst/>
          </a:prstGeom>
        </p:spPr>
      </p:pic>
    </p:spTree>
    <p:extLst>
      <p:ext uri="{BB962C8B-B14F-4D97-AF65-F5344CB8AC3E}">
        <p14:creationId xmlns:p14="http://schemas.microsoft.com/office/powerpoint/2010/main" val="23178056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A816D1-94C0-7826-D650-1DA55F7F23CD}"/>
            </a:ext>
          </a:extLst>
        </p:cNvPr>
        <p:cNvGrpSpPr/>
        <p:nvPr/>
      </p:nvGrpSpPr>
      <p:grpSpPr>
        <a:xfrm>
          <a:off x="0" y="0"/>
          <a:ext cx="0" cy="0"/>
          <a:chOff x="0" y="0"/>
          <a:chExt cx="0" cy="0"/>
        </a:xfrm>
      </p:grpSpPr>
      <p:sp>
        <p:nvSpPr>
          <p:cNvPr id="1048712" name="Rectangle 18">
            <a:extLst>
              <a:ext uri="{FF2B5EF4-FFF2-40B4-BE49-F238E27FC236}">
                <a16:creationId xmlns:a16="http://schemas.microsoft.com/office/drawing/2014/main" id="{AC4F6BFA-A895-607D-7F47-9414A89315F7}"/>
              </a:ext>
            </a:extLst>
          </p:cNvPr>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3" name="Title 1">
            <a:extLst>
              <a:ext uri="{FF2B5EF4-FFF2-40B4-BE49-F238E27FC236}">
                <a16:creationId xmlns:a16="http://schemas.microsoft.com/office/drawing/2014/main" id="{79069AED-3F7C-56B2-573B-6A5F02D631EE}"/>
              </a:ext>
            </a:extLst>
          </p:cNvPr>
          <p:cNvSpPr>
            <a:spLocks noGrp="1"/>
          </p:cNvSpPr>
          <p:nvPr>
            <p:ph type="title"/>
          </p:nvPr>
        </p:nvSpPr>
        <p:spPr>
          <a:xfrm>
            <a:off x="367903" y="643467"/>
            <a:ext cx="8408193" cy="744836"/>
          </a:xfrm>
        </p:spPr>
        <p:txBody>
          <a:bodyPr vert="horz" lIns="91440" tIns="45720" rIns="91440" bIns="45720" rtlCol="0" anchor="ctr">
            <a:normAutofit/>
          </a:bodyPr>
          <a:lstStyle/>
          <a:p>
            <a:pPr algn="l" defTabSz="914400">
              <a:lnSpc>
                <a:spcPct val="90000"/>
              </a:lnSpc>
            </a:pPr>
            <a:r>
              <a:rPr lang="en-US" sz="2800" b="1" dirty="0">
                <a:solidFill>
                  <a:srgbClr val="FFFFFF"/>
                </a:solidFill>
                <a:latin typeface="Times New Roman"/>
                <a:cs typeface="Times New Roman"/>
              </a:rPr>
              <a:t>Sequence Notice Update Flow</a:t>
            </a:r>
            <a:endParaRPr lang="en-US" sz="2800" b="1" kern="1200" dirty="0">
              <a:solidFill>
                <a:schemeClr val="bg1"/>
              </a:solidFill>
              <a:latin typeface="Times New Roman"/>
              <a:cs typeface="Times New Roman"/>
            </a:endParaRPr>
          </a:p>
        </p:txBody>
      </p:sp>
      <p:sp>
        <p:nvSpPr>
          <p:cNvPr id="1048714" name="Slide Number Placeholder 3">
            <a:extLst>
              <a:ext uri="{FF2B5EF4-FFF2-40B4-BE49-F238E27FC236}">
                <a16:creationId xmlns:a16="http://schemas.microsoft.com/office/drawing/2014/main" id="{A3731589-1BAA-7F67-F695-F637ABDFEB5D}"/>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21</a:t>
            </a:fld>
            <a:endParaRPr lang="en-US" dirty="0"/>
          </a:p>
        </p:txBody>
      </p:sp>
      <p:sp>
        <p:nvSpPr>
          <p:cNvPr id="3" name="Content Placeholder 2">
            <a:extLst>
              <a:ext uri="{FF2B5EF4-FFF2-40B4-BE49-F238E27FC236}">
                <a16:creationId xmlns:a16="http://schemas.microsoft.com/office/drawing/2014/main" id="{7E962CBF-6FEF-03A8-1099-451667073C77}"/>
              </a:ext>
            </a:extLst>
          </p:cNvPr>
          <p:cNvSpPr>
            <a:spLocks noGrp="1"/>
          </p:cNvSpPr>
          <p:nvPr>
            <p:ph idx="1"/>
          </p:nvPr>
        </p:nvSpPr>
        <p:spPr/>
        <p:txBody>
          <a:bodyPr/>
          <a:lstStyle/>
          <a:p>
            <a:pPr marL="0" indent="0">
              <a:buNone/>
            </a:pPr>
            <a:endParaRPr lang="en-IN" dirty="0"/>
          </a:p>
        </p:txBody>
      </p:sp>
      <p:pic>
        <p:nvPicPr>
          <p:cNvPr id="5" name="Content Placeholder 7" descr="A screenshot of a diagram">
            <a:extLst>
              <a:ext uri="{FF2B5EF4-FFF2-40B4-BE49-F238E27FC236}">
                <a16:creationId xmlns:a16="http://schemas.microsoft.com/office/drawing/2014/main" id="{9F84A1B9-F11C-F98A-351A-ED69010FF953}"/>
              </a:ext>
            </a:extLst>
          </p:cNvPr>
          <p:cNvPicPr>
            <a:picLocks noChangeAspect="1"/>
          </p:cNvPicPr>
          <p:nvPr/>
        </p:nvPicPr>
        <p:blipFill>
          <a:blip r:embed="rId2"/>
          <a:srcRect t="4646" r="-199" b="2282"/>
          <a:stretch>
            <a:fillRect/>
          </a:stretch>
        </p:blipFill>
        <p:spPr>
          <a:xfrm>
            <a:off x="315686" y="1396587"/>
            <a:ext cx="8371114" cy="4959763"/>
          </a:xfrm>
          <a:prstGeom prst="rect">
            <a:avLst/>
          </a:prstGeom>
        </p:spPr>
      </p:pic>
    </p:spTree>
    <p:extLst>
      <p:ext uri="{BB962C8B-B14F-4D97-AF65-F5344CB8AC3E}">
        <p14:creationId xmlns:p14="http://schemas.microsoft.com/office/powerpoint/2010/main" val="3676091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29" name="Rectangle 11"/>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0" name="Rectangle 1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1" name="Rectangle 15"/>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2" name="Rectangle 17"/>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3" name="Rectangle 19"/>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4" name="Title 1"/>
          <p:cNvSpPr>
            <a:spLocks noGrp="1"/>
          </p:cNvSpPr>
          <p:nvPr>
            <p:ph type="title" idx="4294967295"/>
          </p:nvPr>
        </p:nvSpPr>
        <p:spPr>
          <a:xfrm>
            <a:off x="1028699" y="294538"/>
            <a:ext cx="7421963" cy="1033669"/>
          </a:xfrm>
        </p:spPr>
        <p:txBody>
          <a:bodyPr vert="horz" lIns="91440" tIns="45720" rIns="91440" bIns="45720" rtlCol="0" anchor="ctr">
            <a:normAutofit/>
          </a:bodyPr>
          <a:lstStyle/>
          <a:p>
            <a:pPr algn="just" defTabSz="914400">
              <a:lnSpc>
                <a:spcPct val="90000"/>
              </a:lnSpc>
            </a:pPr>
            <a:r>
              <a:rPr lang="en-US" sz="3500" b="1" dirty="0">
                <a:solidFill>
                  <a:srgbClr val="FFFFFF"/>
                </a:solidFill>
              </a:rPr>
              <a:t>Workflow</a:t>
            </a:r>
            <a:endParaRPr lang="en-US" sz="3500" b="1" kern="1200" dirty="0">
              <a:solidFill>
                <a:srgbClr val="FFFFFF"/>
              </a:solidFill>
              <a:latin typeface="+mj-lt"/>
              <a:ea typeface="+mj-ea"/>
              <a:cs typeface="+mj-cs"/>
            </a:endParaRPr>
          </a:p>
        </p:txBody>
      </p:sp>
      <p:sp>
        <p:nvSpPr>
          <p:cNvPr id="1048735" name="Content Placeholder 6"/>
          <p:cNvSpPr>
            <a:spLocks noGrp="1"/>
          </p:cNvSpPr>
          <p:nvPr>
            <p:ph idx="4294967295"/>
          </p:nvPr>
        </p:nvSpPr>
        <p:spPr>
          <a:xfrm>
            <a:off x="353291" y="1840216"/>
            <a:ext cx="7968431" cy="4732839"/>
          </a:xfrm>
        </p:spPr>
        <p:txBody>
          <a:bodyPr vert="horz" lIns="91440" tIns="45720" rIns="91440" bIns="45720" rtlCol="0" anchor="ctr">
            <a:normAutofit/>
          </a:bodyPr>
          <a:lstStyle/>
          <a:p>
            <a:pPr indent="-228600" algn="just" defTabSz="914400">
              <a:lnSpc>
                <a:spcPct val="90000"/>
              </a:lnSpc>
              <a:buFont typeface="Arial" panose="020B0604020202020204" pitchFamily="34" charset="0"/>
              <a:buChar char="•"/>
            </a:pPr>
            <a:r>
              <a:rPr lang="en-US" sz="2000" dirty="0">
                <a:latin typeface="Times New Roman"/>
                <a:cs typeface="Times New Roman"/>
              </a:rPr>
              <a:t>Start the system and load the home page. </a:t>
            </a:r>
          </a:p>
          <a:p>
            <a:pPr indent="-228600" algn="just" defTabSz="914400">
              <a:lnSpc>
                <a:spcPct val="90000"/>
              </a:lnSpc>
              <a:buFont typeface="Arial" panose="020B0604020202020204" pitchFamily="34" charset="0"/>
              <a:buChar char="•"/>
            </a:pPr>
            <a:r>
              <a:rPr lang="en-US" sz="2000" dirty="0">
                <a:latin typeface="Times New Roman"/>
                <a:cs typeface="Times New Roman"/>
              </a:rPr>
              <a:t>The system initializes and opens the home page.</a:t>
            </a:r>
          </a:p>
          <a:p>
            <a:pPr indent="-228600" algn="just" defTabSz="914400">
              <a:lnSpc>
                <a:spcPct val="90000"/>
              </a:lnSpc>
              <a:buFont typeface="Arial" panose="020B0604020202020204" pitchFamily="34" charset="0"/>
              <a:buChar char="•"/>
            </a:pPr>
            <a:r>
              <a:rPr lang="en-US" sz="2000" dirty="0">
                <a:latin typeface="Times New Roman"/>
                <a:cs typeface="Times New Roman"/>
              </a:rPr>
              <a:t>Faculty navigates to the login page. </a:t>
            </a:r>
          </a:p>
          <a:p>
            <a:pPr indent="-228600" algn="just" defTabSz="914400">
              <a:lnSpc>
                <a:spcPct val="90000"/>
              </a:lnSpc>
              <a:buFont typeface="Arial" panose="020B0604020202020204" pitchFamily="34" charset="0"/>
              <a:buChar char="•"/>
            </a:pPr>
            <a:r>
              <a:rPr lang="en-US" sz="2000" dirty="0">
                <a:latin typeface="Times New Roman"/>
                <a:cs typeface="Times New Roman"/>
              </a:rPr>
              <a:t>Only faculty members are allowed to post or manage notices. </a:t>
            </a:r>
          </a:p>
          <a:p>
            <a:pPr indent="-228600" algn="just" defTabSz="914400">
              <a:lnSpc>
                <a:spcPct val="90000"/>
              </a:lnSpc>
              <a:buFont typeface="Arial" panose="020B0604020202020204" pitchFamily="34" charset="0"/>
              <a:buChar char="•"/>
            </a:pPr>
            <a:r>
              <a:rPr lang="en-US" sz="2000" dirty="0">
                <a:latin typeface="Times New Roman"/>
                <a:cs typeface="Times New Roman"/>
              </a:rPr>
              <a:t>Faculty enters valid login credentials. </a:t>
            </a:r>
          </a:p>
          <a:p>
            <a:pPr indent="-228600" algn="just" defTabSz="914400">
              <a:lnSpc>
                <a:spcPct val="90000"/>
              </a:lnSpc>
              <a:buFont typeface="Arial" panose="020B0604020202020204" pitchFamily="34" charset="0"/>
              <a:buChar char="•"/>
            </a:pPr>
            <a:r>
              <a:rPr lang="en-US" sz="2000" dirty="0">
                <a:latin typeface="Times New Roman"/>
                <a:cs typeface="Times New Roman"/>
              </a:rPr>
              <a:t>Authentication ensures that only authorized users access the dashboard. </a:t>
            </a:r>
            <a:endParaRPr lang="en-US" sz="2000" dirty="0">
              <a:latin typeface="Times New Roman"/>
              <a:ea typeface="Calibri"/>
              <a:cs typeface="Times New Roman"/>
            </a:endParaRPr>
          </a:p>
          <a:p>
            <a:pPr indent="-228600" algn="just" defTabSz="914400">
              <a:lnSpc>
                <a:spcPct val="90000"/>
              </a:lnSpc>
              <a:buFont typeface="Arial" panose="020B0604020202020204" pitchFamily="34" charset="0"/>
              <a:buChar char="•"/>
            </a:pPr>
            <a:r>
              <a:rPr lang="en-US" sz="2000" dirty="0">
                <a:latin typeface="Times New Roman"/>
                <a:cs typeface="Times New Roman"/>
              </a:rPr>
              <a:t>Redirect faculty to the dashboard after successful. </a:t>
            </a:r>
          </a:p>
          <a:p>
            <a:pPr indent="-228600" algn="just" defTabSz="914400">
              <a:lnSpc>
                <a:spcPct val="90000"/>
              </a:lnSpc>
              <a:buFont typeface="Arial" panose="020B0604020202020204" pitchFamily="34" charset="0"/>
              <a:buChar char="•"/>
            </a:pPr>
            <a:r>
              <a:rPr lang="en-US" sz="2000" dirty="0">
                <a:latin typeface="Times New Roman"/>
                <a:cs typeface="Times New Roman"/>
              </a:rPr>
              <a:t>The dashboard provides controls to manage notices.</a:t>
            </a:r>
          </a:p>
          <a:p>
            <a:pPr indent="-228600" algn="just" defTabSz="914400">
              <a:lnSpc>
                <a:spcPct val="90000"/>
              </a:lnSpc>
              <a:buFont typeface="Arial" panose="020B0604020202020204" pitchFamily="34" charset="0"/>
              <a:buChar char="•"/>
            </a:pPr>
            <a:r>
              <a:rPr lang="en-US" sz="2000" dirty="0">
                <a:latin typeface="Times New Roman"/>
                <a:cs typeface="Times New Roman"/>
              </a:rPr>
              <a:t>Faculty creates, edits, or deletes a notice.</a:t>
            </a:r>
          </a:p>
          <a:p>
            <a:pPr indent="-228600" algn="just" defTabSz="914400">
              <a:lnSpc>
                <a:spcPct val="90000"/>
              </a:lnSpc>
              <a:buFont typeface="Arial" panose="020B0604020202020204" pitchFamily="34" charset="0"/>
              <a:buChar char="•"/>
            </a:pPr>
            <a:r>
              <a:rPr lang="en-US" sz="2000" dirty="0">
                <a:latin typeface="Times New Roman"/>
                <a:cs typeface="Times New Roman"/>
              </a:rPr>
              <a:t>Faculty can add new notices, update existing ones, or remove outdated notices. </a:t>
            </a:r>
          </a:p>
          <a:p>
            <a:pPr marL="114300" indent="0" algn="just" defTabSz="914400">
              <a:lnSpc>
                <a:spcPct val="90000"/>
              </a:lnSpc>
              <a:buNone/>
            </a:pPr>
            <a:endParaRPr lang="en-US" sz="1800" dirty="0">
              <a:latin typeface="Times New Roman"/>
              <a:cs typeface="Times New Roman"/>
            </a:endParaRPr>
          </a:p>
        </p:txBody>
      </p:sp>
      <p:sp>
        <p:nvSpPr>
          <p:cNvPr id="1048736" name="Slide Number Placeholder 3"/>
          <p:cNvSpPr>
            <a:spLocks noGrp="1"/>
          </p:cNvSpPr>
          <p:nvPr>
            <p:ph type="sldNum" sz="quarter" idx="12"/>
          </p:nvPr>
        </p:nvSpPr>
        <p:spPr>
          <a:xfrm>
            <a:off x="8778240" y="6455431"/>
            <a:ext cx="334434" cy="365125"/>
          </a:xfrm>
        </p:spPr>
        <p:txBody>
          <a:bodyPr vert="horz" lIns="91440" tIns="45720" rIns="91440" bIns="45720" rtlCol="0" anchor="ctr">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22</a:t>
            </a:fld>
            <a:endParaRPr lang="en-US" sz="1000" dirty="0">
              <a:solidFill>
                <a:schemeClr val="tx1">
                  <a:lumMod val="50000"/>
                  <a:lumOff val="50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37" name="Rectangle 20"/>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 typeface="Arial"/>
              <a:buChar char="•"/>
            </a:pPr>
            <a:endParaRPr lang="en-US" dirty="0">
              <a:ea typeface="Calibri"/>
              <a:cs typeface="Calibri"/>
            </a:endParaRPr>
          </a:p>
        </p:txBody>
      </p:sp>
      <p:sp>
        <p:nvSpPr>
          <p:cNvPr id="1048738" name="Rectangle 22"/>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9"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0" name="Rectangle 26"/>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1" name="Rectangle 28"/>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2" name="Slide Number Placeholder 1"/>
          <p:cNvSpPr>
            <a:spLocks noGrp="1"/>
          </p:cNvSpPr>
          <p:nvPr>
            <p:ph type="sldNum" sz="quarter" idx="12"/>
          </p:nvPr>
        </p:nvSpPr>
        <p:spPr>
          <a:xfrm>
            <a:off x="8778240" y="6455431"/>
            <a:ext cx="334434" cy="365125"/>
          </a:xfrm>
        </p:spPr>
        <p:txBody>
          <a:bodyPr vert="horz" lIns="91440" tIns="45720" rIns="91440" bIns="45720" rtlCol="0" anchor="ctr">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23</a:t>
            </a:fld>
            <a:endParaRPr lang="en-US" sz="1000" dirty="0">
              <a:solidFill>
                <a:schemeClr val="tx1">
                  <a:lumMod val="50000"/>
                  <a:lumOff val="50000"/>
                </a:schemeClr>
              </a:solidFill>
            </a:endParaRPr>
          </a:p>
        </p:txBody>
      </p:sp>
      <p:sp>
        <p:nvSpPr>
          <p:cNvPr id="1048743" name="TextBox 5"/>
          <p:cNvSpPr txBox="1"/>
          <p:nvPr/>
        </p:nvSpPr>
        <p:spPr>
          <a:xfrm>
            <a:off x="603663" y="1697182"/>
            <a:ext cx="8174181" cy="46782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Arial"/>
              <a:buChar char="•"/>
            </a:pPr>
            <a:r>
              <a:rPr lang="en-US" sz="2000" dirty="0">
                <a:latin typeface="Times New Roman"/>
                <a:cs typeface="Times New Roman"/>
              </a:rPr>
              <a:t>Save the notice data in the system storage. The notice content and details are stored for display and future reference. </a:t>
            </a:r>
          </a:p>
          <a:p>
            <a:pPr marL="285750" indent="-285750" algn="just">
              <a:buFont typeface="Arial"/>
              <a:buChar char="•"/>
            </a:pPr>
            <a:r>
              <a:rPr lang="en-US" sz="2000" dirty="0">
                <a:latin typeface="Times New Roman"/>
                <a:cs typeface="Times New Roman"/>
              </a:rPr>
              <a:t>Update the notice list on the home page. Any change made by the faculty is immediately reflected on the home page.</a:t>
            </a:r>
          </a:p>
          <a:p>
            <a:pPr marL="285750" indent="-285750" algn="just">
              <a:buFont typeface="Arial"/>
              <a:buChar char="•"/>
            </a:pPr>
            <a:r>
              <a:rPr lang="en-US" sz="2000" dirty="0">
                <a:latin typeface="Times New Roman"/>
                <a:cs typeface="Times New Roman"/>
              </a:rPr>
              <a:t>ESP8266 fetches the latest notice wirelessly. The IoT controller retrieves updated notices using a Wi-Fi connection.</a:t>
            </a:r>
            <a:endParaRPr lang="en-US" sz="2000" dirty="0">
              <a:latin typeface="Times New Roman"/>
              <a:ea typeface="Calibri"/>
              <a:cs typeface="Times New Roman"/>
            </a:endParaRPr>
          </a:p>
          <a:p>
            <a:pPr marL="285750" indent="-285750" algn="just">
              <a:buFont typeface="Arial"/>
              <a:buChar char="•"/>
            </a:pPr>
            <a:r>
              <a:rPr lang="en-US" sz="2000" dirty="0">
                <a:latin typeface="Times New Roman"/>
                <a:cs typeface="Times New Roman"/>
              </a:rPr>
              <a:t>Check the length of the notice message. The system verifies whether the message fits on the LCD screen. </a:t>
            </a:r>
          </a:p>
          <a:p>
            <a:pPr marL="285750" indent="-285750" algn="just">
              <a:buFont typeface="Arial"/>
              <a:buChar char="•"/>
            </a:pPr>
            <a:r>
              <a:rPr lang="en-US" sz="2000" dirty="0">
                <a:latin typeface="Times New Roman"/>
                <a:cs typeface="Times New Roman"/>
              </a:rPr>
              <a:t>Enable scrolling if the message is too long. Long messages are scrolled smoothly from right to left for readability.</a:t>
            </a:r>
            <a:endParaRPr lang="en-US" sz="2000" dirty="0">
              <a:latin typeface="Times New Roman"/>
              <a:ea typeface="Calibri"/>
              <a:cs typeface="Times New Roman"/>
            </a:endParaRPr>
          </a:p>
          <a:p>
            <a:pPr marL="285750" indent="-285750" algn="just">
              <a:buFont typeface="Arial"/>
              <a:buChar char="•"/>
            </a:pPr>
            <a:r>
              <a:rPr lang="en-US" sz="2000" dirty="0">
                <a:latin typeface="Times New Roman"/>
                <a:cs typeface="Times New Roman"/>
              </a:rPr>
              <a:t>Display the notice on the LCD screen. The notice is shown clearly on the 16×2 LCD module.</a:t>
            </a:r>
            <a:endParaRPr lang="en-US" sz="2000" dirty="0">
              <a:latin typeface="Times New Roman"/>
              <a:ea typeface="Calibri"/>
              <a:cs typeface="Times New Roman"/>
            </a:endParaRPr>
          </a:p>
          <a:p>
            <a:pPr marL="285750" indent="-285750" algn="just">
              <a:buFont typeface="Arial"/>
              <a:buChar char="•"/>
            </a:pPr>
            <a:r>
              <a:rPr lang="en-US" sz="2000" dirty="0">
                <a:latin typeface="Times New Roman"/>
                <a:cs typeface="Times New Roman"/>
              </a:rPr>
              <a:t>Continuously monitor for updates. The system keeps checking for changes so new notices appear instantly.</a:t>
            </a:r>
          </a:p>
          <a:p>
            <a:pPr algn="just"/>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D03EBC6-BBEF-3976-8600-7AEE56BDBA0B}"/>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04873286-76A5-704B-B6AF-A942CD4FE820}"/>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B8B46F6C-1843-7C1F-B51F-C4C454FD1425}"/>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5385843D-F0B0-0D1A-D96B-7CC01C14066D}"/>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AF7E5D36-C2BD-ABA5-1170-7BF24D04AEEE}"/>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87C5A1DE-6925-7F1E-74D3-05B2BD779243}"/>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F3F191DB-2DCC-257C-9717-0952DFFAB8FD}"/>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Results </a:t>
            </a:r>
          </a:p>
        </p:txBody>
      </p:sp>
      <p:sp>
        <p:nvSpPr>
          <p:cNvPr id="1048622" name="Slide Number Placeholder 3">
            <a:extLst>
              <a:ext uri="{FF2B5EF4-FFF2-40B4-BE49-F238E27FC236}">
                <a16:creationId xmlns:a16="http://schemas.microsoft.com/office/drawing/2014/main" id="{44A40236-97AB-85D3-72DB-A3C7C6CC892E}"/>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24</a:t>
            </a:fld>
            <a:endParaRPr lang="en-US" sz="1000" dirty="0">
              <a:solidFill>
                <a:schemeClr val="tx1">
                  <a:lumMod val="50000"/>
                  <a:lumOff val="50000"/>
                </a:schemeClr>
              </a:solidFill>
            </a:endParaRPr>
          </a:p>
        </p:txBody>
      </p:sp>
      <p:pic>
        <p:nvPicPr>
          <p:cNvPr id="4" name="Content Placeholder 3">
            <a:extLst>
              <a:ext uri="{FF2B5EF4-FFF2-40B4-BE49-F238E27FC236}">
                <a16:creationId xmlns:a16="http://schemas.microsoft.com/office/drawing/2014/main" id="{7E2909A9-E6FC-5416-BE27-07C1FE63046C}"/>
              </a:ext>
            </a:extLst>
          </p:cNvPr>
          <p:cNvPicPr>
            <a:picLocks noGrp="1" noChangeAspect="1"/>
          </p:cNvPicPr>
          <p:nvPr>
            <p:ph idx="1"/>
          </p:nvPr>
        </p:nvPicPr>
        <p:blipFill>
          <a:blip r:embed="rId2"/>
          <a:stretch>
            <a:fillRect/>
          </a:stretch>
        </p:blipFill>
        <p:spPr>
          <a:xfrm>
            <a:off x="109525" y="1701670"/>
            <a:ext cx="8799485" cy="4262250"/>
          </a:xfrm>
          <a:prstGeom prst="rect">
            <a:avLst/>
          </a:prstGeom>
        </p:spPr>
      </p:pic>
    </p:spTree>
    <p:extLst>
      <p:ext uri="{BB962C8B-B14F-4D97-AF65-F5344CB8AC3E}">
        <p14:creationId xmlns:p14="http://schemas.microsoft.com/office/powerpoint/2010/main" val="4561559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C2E964F-52E6-824F-0D89-AEA8C4C89859}"/>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DFAEE683-E438-F7CF-3AEA-7F6D3183ADCD}"/>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203A7CE2-33D4-B811-BB8A-1EFE06085D73}"/>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613B6CF9-02EF-96A7-CD0B-EA768E2EBFCA}"/>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F4913366-2F11-5EF7-EF86-C2B44ACBACCF}"/>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2DFE41E9-56F7-71B9-D81A-10205D852590}"/>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A0E84707-2317-FAC0-F596-0AB8D70A07AD}"/>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Login page</a:t>
            </a:r>
          </a:p>
        </p:txBody>
      </p:sp>
      <p:sp>
        <p:nvSpPr>
          <p:cNvPr id="1048622" name="Slide Number Placeholder 3">
            <a:extLst>
              <a:ext uri="{FF2B5EF4-FFF2-40B4-BE49-F238E27FC236}">
                <a16:creationId xmlns:a16="http://schemas.microsoft.com/office/drawing/2014/main" id="{47679787-05D4-4900-68A4-CCEFD03761EF}"/>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25</a:t>
            </a:fld>
            <a:endParaRPr lang="en-US" sz="1000" dirty="0">
              <a:solidFill>
                <a:schemeClr val="tx1">
                  <a:lumMod val="50000"/>
                  <a:lumOff val="50000"/>
                </a:schemeClr>
              </a:solidFill>
            </a:endParaRPr>
          </a:p>
        </p:txBody>
      </p:sp>
      <p:pic>
        <p:nvPicPr>
          <p:cNvPr id="6" name="Content Placeholder 5">
            <a:extLst>
              <a:ext uri="{FF2B5EF4-FFF2-40B4-BE49-F238E27FC236}">
                <a16:creationId xmlns:a16="http://schemas.microsoft.com/office/drawing/2014/main" id="{0BD66CFA-FDF2-C98A-FE67-5B0AA36616C1}"/>
              </a:ext>
            </a:extLst>
          </p:cNvPr>
          <p:cNvPicPr>
            <a:picLocks noGrp="1" noChangeAspect="1"/>
          </p:cNvPicPr>
          <p:nvPr>
            <p:ph idx="1"/>
          </p:nvPr>
        </p:nvPicPr>
        <p:blipFill>
          <a:blip r:embed="rId2"/>
          <a:stretch>
            <a:fillRect/>
          </a:stretch>
        </p:blipFill>
        <p:spPr>
          <a:xfrm>
            <a:off x="457200" y="1862360"/>
            <a:ext cx="8229600" cy="4001643"/>
          </a:xfrm>
          <a:prstGeom prst="rect">
            <a:avLst/>
          </a:prstGeom>
        </p:spPr>
      </p:pic>
    </p:spTree>
    <p:extLst>
      <p:ext uri="{BB962C8B-B14F-4D97-AF65-F5344CB8AC3E}">
        <p14:creationId xmlns:p14="http://schemas.microsoft.com/office/powerpoint/2010/main" val="899521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13DE9A-E0E3-BF1F-0F97-4906BFA7E3FB}"/>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ECD72434-E957-6A12-2980-61B14EDBA643}"/>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E6FA06DE-51AE-D5BC-50BE-581BE741F11A}"/>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7981A800-0ABB-8E27-F4A7-144EB73869CC}"/>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0CB64711-2857-7A12-310B-0C75D1CE92BE}"/>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BD26BA4A-D288-2035-3453-2291D3D21F26}"/>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34E9B79B-6A7B-3F95-6B4F-B83092D1B611}"/>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Faculty Dashboard</a:t>
            </a:r>
          </a:p>
        </p:txBody>
      </p:sp>
      <p:sp>
        <p:nvSpPr>
          <p:cNvPr id="1048622" name="Slide Number Placeholder 3">
            <a:extLst>
              <a:ext uri="{FF2B5EF4-FFF2-40B4-BE49-F238E27FC236}">
                <a16:creationId xmlns:a16="http://schemas.microsoft.com/office/drawing/2014/main" id="{5AD773C9-77C8-4B71-3F73-6D2D4FC9E7C6}"/>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26</a:t>
            </a:fld>
            <a:endParaRPr lang="en-US" sz="1000" dirty="0">
              <a:solidFill>
                <a:schemeClr val="tx1">
                  <a:lumMod val="50000"/>
                  <a:lumOff val="50000"/>
                </a:schemeClr>
              </a:solidFill>
            </a:endParaRPr>
          </a:p>
        </p:txBody>
      </p:sp>
      <p:pic>
        <p:nvPicPr>
          <p:cNvPr id="4" name="Content Placeholder 3">
            <a:extLst>
              <a:ext uri="{FF2B5EF4-FFF2-40B4-BE49-F238E27FC236}">
                <a16:creationId xmlns:a16="http://schemas.microsoft.com/office/drawing/2014/main" id="{D124B0B7-F4B1-46E2-EDCC-5E65D5646CDF}"/>
              </a:ext>
            </a:extLst>
          </p:cNvPr>
          <p:cNvPicPr>
            <a:picLocks noGrp="1" noChangeAspect="1"/>
          </p:cNvPicPr>
          <p:nvPr>
            <p:ph idx="1"/>
          </p:nvPr>
        </p:nvPicPr>
        <p:blipFill>
          <a:blip r:embed="rId2"/>
          <a:stretch>
            <a:fillRect/>
          </a:stretch>
        </p:blipFill>
        <p:spPr>
          <a:xfrm>
            <a:off x="457200" y="1844358"/>
            <a:ext cx="8229600" cy="4037647"/>
          </a:xfrm>
          <a:prstGeom prst="rect">
            <a:avLst/>
          </a:prstGeom>
        </p:spPr>
      </p:pic>
    </p:spTree>
    <p:extLst>
      <p:ext uri="{BB962C8B-B14F-4D97-AF65-F5344CB8AC3E}">
        <p14:creationId xmlns:p14="http://schemas.microsoft.com/office/powerpoint/2010/main" val="33793266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8F7882-1164-6B67-ADA8-1ACF7D96C9FD}"/>
            </a:ext>
          </a:extLst>
        </p:cNvPr>
        <p:cNvGrpSpPr/>
        <p:nvPr/>
      </p:nvGrpSpPr>
      <p:grpSpPr>
        <a:xfrm>
          <a:off x="0" y="0"/>
          <a:ext cx="0" cy="0"/>
          <a:chOff x="0" y="0"/>
          <a:chExt cx="0" cy="0"/>
        </a:xfrm>
      </p:grpSpPr>
      <p:sp useBgFill="1">
        <p:nvSpPr>
          <p:cNvPr id="1048615" name="Rectangle 22">
            <a:extLst>
              <a:ext uri="{FF2B5EF4-FFF2-40B4-BE49-F238E27FC236}">
                <a16:creationId xmlns:a16="http://schemas.microsoft.com/office/drawing/2014/main" id="{000C12B1-6BDE-FF13-C7ED-D1089395FB1C}"/>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3">
            <a:extLst>
              <a:ext uri="{FF2B5EF4-FFF2-40B4-BE49-F238E27FC236}">
                <a16:creationId xmlns:a16="http://schemas.microsoft.com/office/drawing/2014/main" id="{014B2BE2-4D16-BE68-F89C-CF2D1DC286EB}"/>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Rectangle 24">
            <a:extLst>
              <a:ext uri="{FF2B5EF4-FFF2-40B4-BE49-F238E27FC236}">
                <a16:creationId xmlns:a16="http://schemas.microsoft.com/office/drawing/2014/main" id="{4C02D1DB-520C-6052-2DB1-A3D55D469A23}"/>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8" name="Rectangle 25">
            <a:extLst>
              <a:ext uri="{FF2B5EF4-FFF2-40B4-BE49-F238E27FC236}">
                <a16:creationId xmlns:a16="http://schemas.microsoft.com/office/drawing/2014/main" id="{79F1090E-2EE0-BDBE-6FEE-3F3202287F8E}"/>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9" name="Rectangle 26">
            <a:extLst>
              <a:ext uri="{FF2B5EF4-FFF2-40B4-BE49-F238E27FC236}">
                <a16:creationId xmlns:a16="http://schemas.microsoft.com/office/drawing/2014/main" id="{031D7587-24AB-68A9-A9D3-CC2EEB859825}"/>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0" name="Title 1">
            <a:extLst>
              <a:ext uri="{FF2B5EF4-FFF2-40B4-BE49-F238E27FC236}">
                <a16:creationId xmlns:a16="http://schemas.microsoft.com/office/drawing/2014/main" id="{681BEECB-BC14-3F7A-8EF0-F1B3ECAE25B8}"/>
              </a:ext>
            </a:extLst>
          </p:cNvPr>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LCD Display </a:t>
            </a:r>
          </a:p>
        </p:txBody>
      </p:sp>
      <p:sp>
        <p:nvSpPr>
          <p:cNvPr id="1048622" name="Slide Number Placeholder 3">
            <a:extLst>
              <a:ext uri="{FF2B5EF4-FFF2-40B4-BE49-F238E27FC236}">
                <a16:creationId xmlns:a16="http://schemas.microsoft.com/office/drawing/2014/main" id="{71E15B38-1560-74A6-7015-9D07FD94C3E3}"/>
              </a:ext>
            </a:extLst>
          </p:cNvPr>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27</a:t>
            </a:fld>
            <a:endParaRPr lang="en-US" sz="1000" dirty="0">
              <a:solidFill>
                <a:schemeClr val="tx1">
                  <a:lumMod val="50000"/>
                  <a:lumOff val="50000"/>
                </a:schemeClr>
              </a:solidFill>
            </a:endParaRPr>
          </a:p>
        </p:txBody>
      </p:sp>
      <p:pic>
        <p:nvPicPr>
          <p:cNvPr id="6" name="Content Placeholder 5">
            <a:extLst>
              <a:ext uri="{FF2B5EF4-FFF2-40B4-BE49-F238E27FC236}">
                <a16:creationId xmlns:a16="http://schemas.microsoft.com/office/drawing/2014/main" id="{2EF04008-D8E9-F937-1BB3-AD9B9ACCD614}"/>
              </a:ext>
            </a:extLst>
          </p:cNvPr>
          <p:cNvPicPr>
            <a:picLocks noGrp="1" noChangeAspect="1"/>
          </p:cNvPicPr>
          <p:nvPr>
            <p:ph idx="1"/>
          </p:nvPr>
        </p:nvPicPr>
        <p:blipFill>
          <a:blip r:embed="rId2"/>
          <a:stretch>
            <a:fillRect/>
          </a:stretch>
        </p:blipFill>
        <p:spPr>
          <a:xfrm>
            <a:off x="538480" y="1846420"/>
            <a:ext cx="8295958" cy="4147979"/>
          </a:xfrm>
          <a:prstGeom prst="rect">
            <a:avLst/>
          </a:prstGeom>
        </p:spPr>
      </p:pic>
    </p:spTree>
    <p:extLst>
      <p:ext uri="{BB962C8B-B14F-4D97-AF65-F5344CB8AC3E}">
        <p14:creationId xmlns:p14="http://schemas.microsoft.com/office/powerpoint/2010/main" val="17877891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44" name="Rectangle 1048711"/>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5" name="Rectangle 104871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6" name="Rectangle 104871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7" name="Rectangle 1048710"/>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8" name="Rectangle 1048712"/>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9" name="Title 1"/>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Conclusion</a:t>
            </a:r>
          </a:p>
        </p:txBody>
      </p:sp>
      <p:sp>
        <p:nvSpPr>
          <p:cNvPr id="1048750" name="Content Placeholder 3"/>
          <p:cNvSpPr>
            <a:spLocks noGrp="1"/>
          </p:cNvSpPr>
          <p:nvPr>
            <p:ph idx="1"/>
          </p:nvPr>
        </p:nvSpPr>
        <p:spPr>
          <a:xfrm>
            <a:off x="464092" y="2069204"/>
            <a:ext cx="8215811" cy="3636725"/>
          </a:xfrm>
        </p:spPr>
        <p:txBody>
          <a:bodyPr vert="horz" lIns="91440" tIns="45720" rIns="91440" bIns="45720" rtlCol="0" anchor="ctr">
            <a:normAutofit/>
          </a:bodyPr>
          <a:lstStyle/>
          <a:p>
            <a:pPr marL="0" indent="0" algn="just">
              <a:buNone/>
            </a:pPr>
            <a:r>
              <a:rPr lang="en-GB" sz="2400" dirty="0">
                <a:latin typeface="Times New Roman" panose="02020603050405020304" pitchFamily="18" charset="0"/>
                <a:cs typeface="Times New Roman" panose="02020603050405020304" pitchFamily="18" charset="0"/>
              </a:rPr>
              <a:t>The proposed system replaces traditional paper-based notice boards with a smart digital solution that enables real-time, wireless updates. It significantly reduces manual effort and paper usage while improving communication speed and efficiency. By using IoT and cloud integration, the system ensures centralized control and easy accessibility. It can be further extended with mobile applications and advanced cloud features, making it highly suitable for colleges, offices, and other public institutions.</a:t>
            </a:r>
            <a:endParaRPr lang="en-US" sz="2400" dirty="0">
              <a:latin typeface="Times New Roman" panose="02020603050405020304" pitchFamily="18" charset="0"/>
              <a:cs typeface="Times New Roman" panose="02020603050405020304" pitchFamily="18" charset="0"/>
            </a:endParaRPr>
          </a:p>
          <a:p>
            <a:pPr marL="0" indent="0" algn="just">
              <a:buNone/>
            </a:pPr>
            <a:endParaRPr lang="en-US" sz="2400" dirty="0">
              <a:latin typeface="Times New Roman" panose="02020603050405020304" pitchFamily="18" charset="0"/>
              <a:ea typeface="Calibri"/>
              <a:cs typeface="Times New Roman" panose="02020603050405020304" pitchFamily="18" charset="0"/>
            </a:endParaRPr>
          </a:p>
        </p:txBody>
      </p:sp>
      <p:sp>
        <p:nvSpPr>
          <p:cNvPr id="1048751" name="Slide Number Placeholder 3"/>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28</a:t>
            </a:fld>
            <a:endParaRPr lang="en-US" sz="1000" dirty="0">
              <a:solidFill>
                <a:schemeClr val="tx1">
                  <a:lumMod val="50000"/>
                  <a:lumOff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CE9E63-C547-2503-AE8F-7056472454C4}"/>
            </a:ext>
          </a:extLst>
        </p:cNvPr>
        <p:cNvGrpSpPr/>
        <p:nvPr/>
      </p:nvGrpSpPr>
      <p:grpSpPr>
        <a:xfrm>
          <a:off x="0" y="0"/>
          <a:ext cx="0" cy="0"/>
          <a:chOff x="0" y="0"/>
          <a:chExt cx="0" cy="0"/>
        </a:xfrm>
      </p:grpSpPr>
      <p:sp useBgFill="1">
        <p:nvSpPr>
          <p:cNvPr id="1048744" name="Rectangle 1048711">
            <a:extLst>
              <a:ext uri="{FF2B5EF4-FFF2-40B4-BE49-F238E27FC236}">
                <a16:creationId xmlns:a16="http://schemas.microsoft.com/office/drawing/2014/main" id="{B41C2F75-F952-A762-BA34-02DB80A90D11}"/>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5" name="Rectangle 1048713">
            <a:extLst>
              <a:ext uri="{FF2B5EF4-FFF2-40B4-BE49-F238E27FC236}">
                <a16:creationId xmlns:a16="http://schemas.microsoft.com/office/drawing/2014/main" id="{45D8520B-6514-ACA8-5E90-9DBB4FF7B8D6}"/>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6" name="Rectangle 1048714">
            <a:extLst>
              <a:ext uri="{FF2B5EF4-FFF2-40B4-BE49-F238E27FC236}">
                <a16:creationId xmlns:a16="http://schemas.microsoft.com/office/drawing/2014/main" id="{3573D933-CDDD-4A81-4323-9C7E6D9D8E55}"/>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7" name="Rectangle 1048710">
            <a:extLst>
              <a:ext uri="{FF2B5EF4-FFF2-40B4-BE49-F238E27FC236}">
                <a16:creationId xmlns:a16="http://schemas.microsoft.com/office/drawing/2014/main" id="{9801781D-E4D9-2E31-F501-BE21B01E6B88}"/>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8" name="Rectangle 1048712">
            <a:extLst>
              <a:ext uri="{FF2B5EF4-FFF2-40B4-BE49-F238E27FC236}">
                <a16:creationId xmlns:a16="http://schemas.microsoft.com/office/drawing/2014/main" id="{CEEEFE8E-73D6-82E7-321D-D5220AE18DDD}"/>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9" name="Title 1">
            <a:extLst>
              <a:ext uri="{FF2B5EF4-FFF2-40B4-BE49-F238E27FC236}">
                <a16:creationId xmlns:a16="http://schemas.microsoft.com/office/drawing/2014/main" id="{06F74869-813D-969E-FCA8-3FB5BDC47BE2}"/>
              </a:ext>
            </a:extLst>
          </p:cNvPr>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Future scope</a:t>
            </a:r>
          </a:p>
        </p:txBody>
      </p:sp>
      <p:sp>
        <p:nvSpPr>
          <p:cNvPr id="1048751" name="Slide Number Placeholder 3">
            <a:extLst>
              <a:ext uri="{FF2B5EF4-FFF2-40B4-BE49-F238E27FC236}">
                <a16:creationId xmlns:a16="http://schemas.microsoft.com/office/drawing/2014/main" id="{B0B2AF12-3892-C73D-1ACE-CD9890EA2966}"/>
              </a:ext>
            </a:extLst>
          </p:cNvPr>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29</a:t>
            </a:fld>
            <a:endParaRPr lang="en-US" sz="1000" dirty="0">
              <a:solidFill>
                <a:schemeClr val="tx1">
                  <a:lumMod val="50000"/>
                  <a:lumOff val="50000"/>
                </a:schemeClr>
              </a:solidFill>
            </a:endParaRPr>
          </a:p>
        </p:txBody>
      </p:sp>
      <p:sp>
        <p:nvSpPr>
          <p:cNvPr id="2" name="TextBox 1">
            <a:extLst>
              <a:ext uri="{FF2B5EF4-FFF2-40B4-BE49-F238E27FC236}">
                <a16:creationId xmlns:a16="http://schemas.microsoft.com/office/drawing/2014/main" id="{8EFA3232-2D46-2177-7C16-43EE42087D99}"/>
              </a:ext>
            </a:extLst>
          </p:cNvPr>
          <p:cNvSpPr txBox="1"/>
          <p:nvPr/>
        </p:nvSpPr>
        <p:spPr>
          <a:xfrm>
            <a:off x="668593" y="2328199"/>
            <a:ext cx="8109647" cy="3785652"/>
          </a:xfrm>
          <a:prstGeom prst="rect">
            <a:avLst/>
          </a:prstGeom>
          <a:noFill/>
        </p:spPr>
        <p:txBody>
          <a:bodyPr wrap="square" rtlCol="0">
            <a:spAutoFit/>
          </a:bodyPr>
          <a:lstStyle/>
          <a:p>
            <a:pPr marL="285750" indent="-285750">
              <a:buFont typeface="Wingdings" panose="05000000000000000000" pitchFamily="2" charset="2"/>
              <a:buChar char="§"/>
            </a:pPr>
            <a:r>
              <a:rPr lang="en-US" sz="2000" dirty="0"/>
              <a:t>Mobile App Integration</a:t>
            </a:r>
          </a:p>
          <a:p>
            <a:pPr marL="285750" indent="-285750">
              <a:buFont typeface="Wingdings" panose="05000000000000000000" pitchFamily="2" charset="2"/>
              <a:buChar char="§"/>
            </a:pPr>
            <a:r>
              <a:rPr lang="en-US" sz="2000" dirty="0"/>
              <a:t>Develop Android/iOS apps for instant notice updates from anywhere.</a:t>
            </a:r>
          </a:p>
          <a:p>
            <a:pPr marL="285750" indent="-285750">
              <a:buFont typeface="Wingdings" panose="05000000000000000000" pitchFamily="2" charset="2"/>
              <a:buChar char="§"/>
            </a:pPr>
            <a:r>
              <a:rPr lang="en-US" sz="2000" dirty="0"/>
              <a:t>Push notifications to users along with display updates.</a:t>
            </a:r>
          </a:p>
          <a:p>
            <a:pPr marL="285750" indent="-285750">
              <a:buFont typeface="Wingdings" panose="05000000000000000000" pitchFamily="2" charset="2"/>
              <a:buChar char="§"/>
            </a:pPr>
            <a:r>
              <a:rPr lang="en-US" sz="2000" dirty="0"/>
              <a:t>AI-Based Smart Scheduling</a:t>
            </a:r>
          </a:p>
          <a:p>
            <a:pPr marL="285750" indent="-285750">
              <a:buFont typeface="Wingdings" panose="05000000000000000000" pitchFamily="2" charset="2"/>
              <a:buChar char="§"/>
            </a:pPr>
            <a:r>
              <a:rPr lang="en-US" sz="2000" dirty="0"/>
              <a:t>Automatically prioritize and display important notices.</a:t>
            </a:r>
          </a:p>
          <a:p>
            <a:pPr marL="285750" indent="-285750">
              <a:buFont typeface="Wingdings" panose="05000000000000000000" pitchFamily="2" charset="2"/>
              <a:buChar char="§"/>
            </a:pPr>
            <a:r>
              <a:rPr lang="en-US" sz="2000" dirty="0"/>
              <a:t>Use AI to analyze user engagement and optimize display timing.</a:t>
            </a:r>
          </a:p>
          <a:p>
            <a:pPr marL="285750" indent="-285750">
              <a:buFont typeface="Wingdings" panose="05000000000000000000" pitchFamily="2" charset="2"/>
              <a:buChar char="§"/>
            </a:pPr>
            <a:r>
              <a:rPr lang="en-US" sz="2000" dirty="0"/>
              <a:t>Voice Control &amp; Assistants</a:t>
            </a:r>
          </a:p>
          <a:p>
            <a:pPr marL="285750" indent="-285750">
              <a:buFont typeface="Wingdings" panose="05000000000000000000" pitchFamily="2" charset="2"/>
              <a:buChar char="§"/>
            </a:pPr>
            <a:r>
              <a:rPr lang="en-US" sz="2000" dirty="0"/>
              <a:t>Integration with voice assistants like Google Assistant or Amazon Alexa.</a:t>
            </a:r>
          </a:p>
          <a:p>
            <a:pPr marL="285750" indent="-285750">
              <a:buFont typeface="Wingdings" panose="05000000000000000000" pitchFamily="2" charset="2"/>
              <a:buChar char="§"/>
            </a:pPr>
            <a:r>
              <a:rPr lang="en-US" sz="2000" dirty="0"/>
              <a:t>Admins can update notices using voice commands. Security Enhancements</a:t>
            </a:r>
          </a:p>
          <a:p>
            <a:pPr marL="285750" indent="-285750">
              <a:buFont typeface="Wingdings" panose="05000000000000000000" pitchFamily="2" charset="2"/>
              <a:buChar char="§"/>
            </a:pPr>
            <a:r>
              <a:rPr lang="en-US" sz="2000" dirty="0"/>
              <a:t>Implement authentication (OTP, biometric, login systems).</a:t>
            </a:r>
          </a:p>
          <a:p>
            <a:pPr marL="285750" indent="-285750">
              <a:buFont typeface="Wingdings" panose="05000000000000000000" pitchFamily="2" charset="2"/>
              <a:buChar char="§"/>
            </a:pPr>
            <a:r>
              <a:rPr lang="en-US" sz="2000" dirty="0"/>
              <a:t>Prevent unauthorized access and hacking.</a:t>
            </a:r>
            <a:endParaRPr lang="en-IN" sz="2000" dirty="0"/>
          </a:p>
        </p:txBody>
      </p:sp>
    </p:spTree>
    <p:extLst>
      <p:ext uri="{BB962C8B-B14F-4D97-AF65-F5344CB8AC3E}">
        <p14:creationId xmlns:p14="http://schemas.microsoft.com/office/powerpoint/2010/main" val="27279919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EC25F1-16E4-E602-095E-2BB6F12C9227}"/>
            </a:ext>
          </a:extLst>
        </p:cNvPr>
        <p:cNvGrpSpPr/>
        <p:nvPr/>
      </p:nvGrpSpPr>
      <p:grpSpPr>
        <a:xfrm>
          <a:off x="0" y="0"/>
          <a:ext cx="0" cy="0"/>
          <a:chOff x="0" y="0"/>
          <a:chExt cx="0" cy="0"/>
        </a:xfrm>
      </p:grpSpPr>
      <p:sp useBgFill="1">
        <p:nvSpPr>
          <p:cNvPr id="1048744" name="Rectangle 1048711">
            <a:extLst>
              <a:ext uri="{FF2B5EF4-FFF2-40B4-BE49-F238E27FC236}">
                <a16:creationId xmlns:a16="http://schemas.microsoft.com/office/drawing/2014/main" id="{1BED94D7-2D8C-E038-C1E8-A10226F73F7B}"/>
              </a:ext>
            </a:extLst>
          </p:cNvPr>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5" name="Rectangle 1048713">
            <a:extLst>
              <a:ext uri="{FF2B5EF4-FFF2-40B4-BE49-F238E27FC236}">
                <a16:creationId xmlns:a16="http://schemas.microsoft.com/office/drawing/2014/main" id="{11670417-55C5-DEF3-F533-27C3921C94AB}"/>
              </a:ext>
            </a:extLst>
          </p:cNvPr>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6" name="Rectangle 1048714">
            <a:extLst>
              <a:ext uri="{FF2B5EF4-FFF2-40B4-BE49-F238E27FC236}">
                <a16:creationId xmlns:a16="http://schemas.microsoft.com/office/drawing/2014/main" id="{B1128AC6-2738-4E57-4F86-03AC5751B879}"/>
              </a:ext>
            </a:extLst>
          </p:cNvPr>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7" name="Rectangle 1048710">
            <a:extLst>
              <a:ext uri="{FF2B5EF4-FFF2-40B4-BE49-F238E27FC236}">
                <a16:creationId xmlns:a16="http://schemas.microsoft.com/office/drawing/2014/main" id="{DCA1DC48-FA5B-51B2-606C-90C71DD5DBDF}"/>
              </a:ext>
            </a:extLst>
          </p:cNvPr>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8" name="Rectangle 1048712">
            <a:extLst>
              <a:ext uri="{FF2B5EF4-FFF2-40B4-BE49-F238E27FC236}">
                <a16:creationId xmlns:a16="http://schemas.microsoft.com/office/drawing/2014/main" id="{2CB109B0-AB41-9E07-29E0-AA2FA1404752}"/>
              </a:ext>
            </a:extLst>
          </p:cNvPr>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9" name="Title 1">
            <a:extLst>
              <a:ext uri="{FF2B5EF4-FFF2-40B4-BE49-F238E27FC236}">
                <a16:creationId xmlns:a16="http://schemas.microsoft.com/office/drawing/2014/main" id="{1B32DB80-9AF2-0014-7355-E6FC9DB6C5C7}"/>
              </a:ext>
            </a:extLst>
          </p:cNvPr>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References</a:t>
            </a:r>
          </a:p>
        </p:txBody>
      </p:sp>
      <p:sp>
        <p:nvSpPr>
          <p:cNvPr id="1048751" name="Slide Number Placeholder 3">
            <a:extLst>
              <a:ext uri="{FF2B5EF4-FFF2-40B4-BE49-F238E27FC236}">
                <a16:creationId xmlns:a16="http://schemas.microsoft.com/office/drawing/2014/main" id="{6D033D2D-F016-C5EC-F9B4-E0F53988108E}"/>
              </a:ext>
            </a:extLst>
          </p:cNvPr>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30</a:t>
            </a:fld>
            <a:endParaRPr lang="en-US" sz="1000" dirty="0">
              <a:solidFill>
                <a:schemeClr val="tx1">
                  <a:lumMod val="50000"/>
                  <a:lumOff val="50000"/>
                </a:schemeClr>
              </a:solidFill>
            </a:endParaRPr>
          </a:p>
        </p:txBody>
      </p:sp>
      <p:sp>
        <p:nvSpPr>
          <p:cNvPr id="5" name="TextBox 4">
            <a:extLst>
              <a:ext uri="{FF2B5EF4-FFF2-40B4-BE49-F238E27FC236}">
                <a16:creationId xmlns:a16="http://schemas.microsoft.com/office/drawing/2014/main" id="{7BACCAA7-8133-8E00-1000-2CF44B015C5E}"/>
              </a:ext>
            </a:extLst>
          </p:cNvPr>
          <p:cNvSpPr txBox="1"/>
          <p:nvPr/>
        </p:nvSpPr>
        <p:spPr>
          <a:xfrm>
            <a:off x="551138" y="2305615"/>
            <a:ext cx="8377084" cy="2246769"/>
          </a:xfrm>
          <a:prstGeom prst="rect">
            <a:avLst/>
          </a:prstGeom>
          <a:noFill/>
        </p:spPr>
        <p:txBody>
          <a:bodyPr wrap="square" rtlCol="0">
            <a:spAutoFit/>
          </a:bodyPr>
          <a:lstStyle/>
          <a:p>
            <a:r>
              <a:rPr lang="en-US" sz="2000" dirty="0">
                <a:hlinkClick r:id="rId2">
                  <a:extLst>
                    <a:ext uri="{A12FA001-AC4F-418D-AE19-62706E023703}">
                      <ahyp:hlinkClr xmlns:ahyp="http://schemas.microsoft.com/office/drawing/2018/hyperlinkcolor" val="tx"/>
                    </a:ext>
                  </a:extLst>
                </a:hlinkClick>
              </a:rPr>
              <a:t>[1]  </a:t>
            </a:r>
            <a:r>
              <a:rPr lang="en-US" sz="2000" dirty="0">
                <a:hlinkClick r:id="rId3"/>
              </a:rPr>
              <a:t>IoT Based Smart Notice Board Research Inventy International Journal of Engineering and Science</a:t>
            </a:r>
            <a:endParaRPr lang="en-US" sz="2000" dirty="0">
              <a:hlinkClick r:id="rId2">
                <a:extLst>
                  <a:ext uri="{A12FA001-AC4F-418D-AE19-62706E023703}">
                    <ahyp:hlinkClr xmlns:ahyp="http://schemas.microsoft.com/office/drawing/2018/hyperlinkcolor" val="tx"/>
                  </a:ext>
                </a:extLst>
              </a:hlinkClick>
            </a:endParaRPr>
          </a:p>
          <a:p>
            <a:r>
              <a:rPr lang="en-US" sz="2000" dirty="0">
                <a:hlinkClick r:id="rId2">
                  <a:extLst>
                    <a:ext uri="{A12FA001-AC4F-418D-AE19-62706E023703}">
                      <ahyp:hlinkClr xmlns:ahyp="http://schemas.microsoft.com/office/drawing/2018/hyperlinkcolor" val="tx"/>
                    </a:ext>
                  </a:extLst>
                </a:hlinkClick>
              </a:rPr>
              <a:t>[2]</a:t>
            </a:r>
            <a:r>
              <a:rPr lang="en-US" sz="2000" dirty="0">
                <a:solidFill>
                  <a:srgbClr val="0000FF"/>
                </a:solidFill>
                <a:hlinkClick r:id="rId2">
                  <a:extLst>
                    <a:ext uri="{A12FA001-AC4F-418D-AE19-62706E023703}">
                      <ahyp:hlinkClr xmlns:ahyp="http://schemas.microsoft.com/office/drawing/2018/hyperlinkcolor" val="tx"/>
                    </a:ext>
                  </a:extLst>
                </a:hlinkClick>
              </a:rPr>
              <a:t> IoT Based Smart Notice Board, ResearchGate Publication</a:t>
            </a:r>
            <a:endParaRPr lang="en-US" sz="2000" dirty="0"/>
          </a:p>
          <a:p>
            <a:r>
              <a:rPr lang="en-US" sz="2000" dirty="0">
                <a:hlinkClick r:id="rId4">
                  <a:extLst>
                    <a:ext uri="{A12FA001-AC4F-418D-AE19-62706E023703}">
                      <ahyp:hlinkClr xmlns:ahyp="http://schemas.microsoft.com/office/drawing/2018/hyperlinkcolor" val="tx"/>
                    </a:ext>
                  </a:extLst>
                </a:hlinkClick>
              </a:rPr>
              <a:t>[3]</a:t>
            </a:r>
            <a:r>
              <a:rPr lang="en-US" sz="2000" dirty="0">
                <a:solidFill>
                  <a:srgbClr val="0000FF"/>
                </a:solidFill>
                <a:hlinkClick r:id="rId4">
                  <a:extLst>
                    <a:ext uri="{A12FA001-AC4F-418D-AE19-62706E023703}">
                      <ahyp:hlinkClr xmlns:ahyp="http://schemas.microsoft.com/office/drawing/2018/hyperlinkcolor" val="tx"/>
                    </a:ext>
                  </a:extLst>
                </a:hlinkClick>
              </a:rPr>
              <a:t> IoT Web Controlled Smart Notice Board using ESP8266, How2Electronics</a:t>
            </a:r>
            <a:endParaRPr lang="en-US" sz="2000" dirty="0"/>
          </a:p>
          <a:p>
            <a:r>
              <a:rPr lang="it-IT" sz="2000" dirty="0">
                <a:hlinkClick r:id="rId5">
                  <a:extLst>
                    <a:ext uri="{A12FA001-AC4F-418D-AE19-62706E023703}">
                      <ahyp:hlinkClr xmlns:ahyp="http://schemas.microsoft.com/office/drawing/2018/hyperlinkcolor" val="tx"/>
                    </a:ext>
                  </a:extLst>
                </a:hlinkClick>
              </a:rPr>
              <a:t>[4]</a:t>
            </a:r>
            <a:r>
              <a:rPr lang="it-IT" sz="2000" dirty="0">
                <a:solidFill>
                  <a:srgbClr val="0000FF"/>
                </a:solidFill>
                <a:hlinkClick r:id="rId5">
                  <a:extLst>
                    <a:ext uri="{A12FA001-AC4F-418D-AE19-62706E023703}">
                      <ahyp:hlinkClr xmlns:ahyp="http://schemas.microsoft.com/office/drawing/2018/hyperlinkcolor" val="tx"/>
                    </a:ext>
                  </a:extLst>
                </a:hlinkClick>
              </a:rPr>
              <a:t> Firebase Official Documentation – Realtime Database</a:t>
            </a:r>
            <a:endParaRPr lang="it-IT" sz="2000" dirty="0"/>
          </a:p>
          <a:p>
            <a:r>
              <a:rPr lang="en-US" sz="2000" dirty="0">
                <a:hlinkClick r:id="rId6">
                  <a:extLst>
                    <a:ext uri="{A12FA001-AC4F-418D-AE19-62706E023703}">
                      <ahyp:hlinkClr xmlns:ahyp="http://schemas.microsoft.com/office/drawing/2018/hyperlinkcolor" val="tx"/>
                    </a:ext>
                  </a:extLst>
                </a:hlinkClick>
              </a:rPr>
              <a:t>[5]</a:t>
            </a:r>
            <a:r>
              <a:rPr lang="en-US" sz="2000" dirty="0">
                <a:solidFill>
                  <a:srgbClr val="0000FF"/>
                </a:solidFill>
                <a:hlinkClick r:id="rId6">
                  <a:extLst>
                    <a:ext uri="{A12FA001-AC4F-418D-AE19-62706E023703}">
                      <ahyp:hlinkClr xmlns:ahyp="http://schemas.microsoft.com/office/drawing/2018/hyperlinkcolor" val="tx"/>
                    </a:ext>
                  </a:extLst>
                </a:hlinkClick>
              </a:rPr>
              <a:t> ESP8266 Official Datasheet – Espressif Systems</a:t>
            </a:r>
            <a:endParaRPr lang="en-US" sz="2000" dirty="0"/>
          </a:p>
          <a:p>
            <a:r>
              <a:rPr lang="en-US" sz="2000" dirty="0">
                <a:hlinkClick r:id="rId7">
                  <a:extLst>
                    <a:ext uri="{A12FA001-AC4F-418D-AE19-62706E023703}">
                      <ahyp:hlinkClr xmlns:ahyp="http://schemas.microsoft.com/office/drawing/2018/hyperlinkcolor" val="tx"/>
                    </a:ext>
                  </a:extLst>
                </a:hlinkClick>
              </a:rPr>
              <a:t>[6]</a:t>
            </a:r>
            <a:r>
              <a:rPr lang="en-US" sz="2000" dirty="0">
                <a:solidFill>
                  <a:srgbClr val="0000FF"/>
                </a:solidFill>
                <a:hlinkClick r:id="rId7">
                  <a:extLst>
                    <a:ext uri="{A12FA001-AC4F-418D-AE19-62706E023703}">
                      <ahyp:hlinkClr xmlns:ahyp="http://schemas.microsoft.com/office/drawing/2018/hyperlinkcolor" val="tx"/>
                    </a:ext>
                  </a:extLst>
                </a:hlinkClick>
              </a:rPr>
              <a:t> Arduino IDE Official Documentation</a:t>
            </a:r>
            <a:endParaRPr lang="en-US" sz="2000" dirty="0"/>
          </a:p>
        </p:txBody>
      </p:sp>
    </p:spTree>
    <p:extLst>
      <p:ext uri="{BB962C8B-B14F-4D97-AF65-F5344CB8AC3E}">
        <p14:creationId xmlns:p14="http://schemas.microsoft.com/office/powerpoint/2010/main" val="42771086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52" name="Rectangle 30"/>
          <p:cNvSpPr>
            <a:spLocks noGrp="1" noRot="1" noChangeAspect="1" noMove="1" noResize="1" noEditPoints="1" noAdjustHandles="1" noChangeArrowheads="1" noChangeShapeType="1" noTextEdit="1"/>
          </p:cNvSpPr>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54" name="Rectangle 32"/>
          <p:cNvSpPr>
            <a:spLocks noGrp="1" noRot="1" noChangeAspect="1" noMove="1" noResize="1" noEditPoints="1" noAdjustHandles="1" noChangeArrowheads="1" noChangeShapeType="1" noTextEdit="1"/>
          </p:cNvSpPr>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55" name="Content Placeholder 6"/>
          <p:cNvSpPr>
            <a:spLocks noGrp="1"/>
          </p:cNvSpPr>
          <p:nvPr>
            <p:ph idx="1"/>
          </p:nvPr>
        </p:nvSpPr>
        <p:spPr>
          <a:xfrm>
            <a:off x="1861170" y="2728162"/>
            <a:ext cx="6056111" cy="2800395"/>
          </a:xfrm>
        </p:spPr>
        <p:txBody>
          <a:bodyPr anchor="t">
            <a:normAutofit/>
          </a:bodyPr>
          <a:lstStyle/>
          <a:p>
            <a:pPr marL="0" indent="0" algn="just">
              <a:buNone/>
            </a:pPr>
            <a:r>
              <a:rPr lang="en-US" sz="6000" b="1" dirty="0">
                <a:latin typeface="Times New Roman"/>
                <a:ea typeface="Calibri"/>
                <a:cs typeface="Times New Roman"/>
              </a:rPr>
              <a:t>THANK YOU</a:t>
            </a:r>
            <a:endParaRPr lang="en-US" sz="6000" dirty="0">
              <a:ea typeface="Calibri"/>
              <a:cs typeface="Calibri"/>
            </a:endParaRPr>
          </a:p>
        </p:txBody>
      </p:sp>
      <p:sp>
        <p:nvSpPr>
          <p:cNvPr id="3" name="Slide Number Placeholder 3">
            <a:extLst>
              <a:ext uri="{FF2B5EF4-FFF2-40B4-BE49-F238E27FC236}">
                <a16:creationId xmlns:a16="http://schemas.microsoft.com/office/drawing/2014/main" id="{19C9BDF5-46E3-8260-C52E-712279D1C00D}"/>
              </a:ext>
            </a:extLst>
          </p:cNvPr>
          <p:cNvSpPr>
            <a:spLocks noGrp="1"/>
          </p:cNvSpPr>
          <p:nvPr>
            <p:ph type="sldNum" sz="quarter" idx="12"/>
          </p:nvPr>
        </p:nvSpPr>
        <p:spPr>
          <a:xfrm>
            <a:off x="8279119" y="5747508"/>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31</a:t>
            </a:fld>
            <a:endParaRPr lang="en-US" sz="1000" dirty="0">
              <a:solidFill>
                <a:schemeClr val="tx1">
                  <a:lumMod val="50000"/>
                  <a:lumOff val="50000"/>
                </a:schemeClr>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Damask</Template>
  <TotalTime>12620</TotalTime>
  <Words>1442</Words>
  <Application>Microsoft Office PowerPoint</Application>
  <PresentationFormat>On-screen Show (4:3)</PresentationFormat>
  <Paragraphs>233</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Courier New</vt:lpstr>
      <vt:lpstr>Segoe UI</vt:lpstr>
      <vt:lpstr>Times New Roman</vt:lpstr>
      <vt:lpstr>Wingdings</vt:lpstr>
      <vt:lpstr>Office Theme</vt:lpstr>
      <vt:lpstr>IOT Based Digital LCD Notice Board</vt:lpstr>
      <vt:lpstr>Table of Contents</vt:lpstr>
      <vt:lpstr>Abstract</vt:lpstr>
      <vt:lpstr>Introduction</vt:lpstr>
      <vt:lpstr>Existing System</vt:lpstr>
      <vt:lpstr>Literature Survey</vt:lpstr>
      <vt:lpstr>Problem Statement</vt:lpstr>
      <vt:lpstr>Proposed System</vt:lpstr>
      <vt:lpstr>PowerPoint Presentation</vt:lpstr>
      <vt:lpstr>PowerPoint Presentation</vt:lpstr>
      <vt:lpstr>Hardware Requirements</vt:lpstr>
      <vt:lpstr>Software Requirements</vt:lpstr>
      <vt:lpstr>System Architecture</vt:lpstr>
      <vt:lpstr>Activity Diagram</vt:lpstr>
      <vt:lpstr>Class Diagram</vt:lpstr>
      <vt:lpstr>Use Case Diagram</vt:lpstr>
      <vt:lpstr>State Diagram</vt:lpstr>
      <vt:lpstr>Component Diagram</vt:lpstr>
      <vt:lpstr>Deployment Diagram</vt:lpstr>
      <vt:lpstr>Object Diagram</vt:lpstr>
      <vt:lpstr>Sequence Notice Update Flow</vt:lpstr>
      <vt:lpstr>Workflow</vt:lpstr>
      <vt:lpstr>PowerPoint Presentation</vt:lpstr>
      <vt:lpstr>Results </vt:lpstr>
      <vt:lpstr>Login page</vt:lpstr>
      <vt:lpstr>Faculty Dashboard</vt:lpstr>
      <vt:lpstr>LCD Display </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Room Allocation System</dc:title>
  <dc:creator>CPH2569</dc:creator>
  <cp:lastModifiedBy>dharani ghanapuram</cp:lastModifiedBy>
  <cp:revision>9</cp:revision>
  <dcterms:created xsi:type="dcterms:W3CDTF">2013-01-26T11:14:16Z</dcterms:created>
  <dcterms:modified xsi:type="dcterms:W3CDTF">2026-04-14T09:35:00Z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e3c4ee18570f432984961d777df9301a</vt:lpwstr>
  </property>
</Properties>
</file>